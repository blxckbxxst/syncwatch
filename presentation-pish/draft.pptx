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7" r:id="rId4"/>
    <p:sldId id="258" r:id="rId5"/>
    <p:sldId id="259" r:id="rId6"/>
    <p:sldId id="270" r:id="rId7"/>
    <p:sldId id="260" r:id="rId8"/>
    <p:sldId id="261" r:id="rId9"/>
    <p:sldId id="271" r:id="rId10"/>
    <p:sldId id="273" r:id="rId11"/>
    <p:sldId id="274" r:id="rId13"/>
    <p:sldId id="277" r:id="rId16"/>
    <p:sldId id="278" r:id="rId17"/>
    <p:sldId id="279" r:id="rId18"/>
    <p:sldId id="262" r:id="rId19"/>
    <p:sldId id="268" r:id="rId20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84" y="11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64B6DEE-0C27-4A65-83A7-8A621D8F00CF}" type="datetime1">
              <a:rPr lang="ru-RU"/>
              <a:t>18.02.2025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966121-1BCA-4C1B-854A-CD01A0ABB15E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04BC616-25B4-4106-9C13-03736E5F7489}" type="datetime1">
              <a:rPr lang="ru-RU"/>
              <a:t>18.02.2025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9352471" y="6370963"/>
            <a:ext cx="2743200" cy="365125"/>
          </a:xfr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"/>
              </a:defRPr>
            </a:lvl1pPr>
          </a:lstStyle>
          <a:p>
            <a:pPr>
              <a:defRPr/>
            </a:pPr>
            <a:fld id="{1C966121-1BCA-4C1B-854A-CD01A0ABB15E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A0005AD-645D-4AAA-9175-498D989DE37D}" type="datetime1">
              <a:rPr lang="ru-RU"/>
              <a:t>18.02.2025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966121-1BCA-4C1B-854A-CD01A0ABB15E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465163E-1C7D-4FF3-A23E-2B624266383B}" type="datetime1">
              <a:rPr lang="ru-RU"/>
              <a:t>18.02.2025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966121-1BCA-4C1B-854A-CD01A0ABB15E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1C69B47-AC38-4D9F-BB60-D4B37A3FFE56}" type="datetime1">
              <a:rPr lang="ru-RU"/>
              <a:t>18.02.2025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966121-1BCA-4C1B-854A-CD01A0ABB15E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2765680-6C64-4B11-B938-8865A5DD70A3}" type="datetime1">
              <a:rPr lang="ru-RU"/>
              <a:t>18.02.2025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966121-1BCA-4C1B-854A-CD01A0ABB15E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CA0D11E-6816-4BF4-84AD-1EEAE879662C}" type="datetime1">
              <a:rPr lang="ru-RU"/>
              <a:t>18.02.2025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>
          <a:xfrm>
            <a:off x="9326593" y="6252833"/>
            <a:ext cx="2743200" cy="365125"/>
          </a:xfr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"/>
              </a:defRPr>
            </a:lvl1pPr>
          </a:lstStyle>
          <a:p>
            <a:pPr>
              <a:defRPr/>
            </a:pPr>
            <a:fld id="{1C966121-1BCA-4C1B-854A-CD01A0ABB15E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A0B422E-A6A2-4658-8783-2EA40042C120}" type="datetime1">
              <a:rPr lang="ru-RU"/>
              <a:t>18.02.2025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966121-1BCA-4C1B-854A-CD01A0ABB15E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2F29308-9E85-448A-AFB7-DB5B2CBEBF6E}" type="datetime1">
              <a:rPr lang="ru-RU"/>
              <a:t>18.02.2025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966121-1BCA-4C1B-854A-CD01A0ABB15E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5B06CD8-F193-4F06-8DBF-3779A9C1C8FC}" type="datetime1">
              <a:rPr lang="ru-RU"/>
              <a:t>18.02.2025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966121-1BCA-4C1B-854A-CD01A0ABB15E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4D4E69A-0679-47E8-A0EF-03BCFF189B4A}" type="datetime1">
              <a:rPr lang="ru-RU"/>
              <a:t>18.02.2025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966121-1BCA-4C1B-854A-CD01A0ABB15E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525BF88-5C80-41EA-A908-07B3F698A60E}" type="datetime1">
              <a:rPr lang="ru-RU"/>
              <a:t>18.02.2025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C966121-1BCA-4C1B-854A-CD01A0ABB15E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4A340568-D828-48A6-B735-ABA0EB80CA40}"/>
              </a:ext>
            </a:extLst>
          </p:cNvPr>
          <p:cNvGrpSpPr/>
          <p:nvPr/>
        </p:nvGrpSpPr>
        <p:grpSpPr>
          <a:xfrm>
            <a:off x="0" y="-1"/>
            <a:ext cx="12192000" cy="6858000"/>
            <a:chOff x="0" y="-120712"/>
            <a:chExt cx="12192000" cy="6858000"/>
          </a:xfrm>
        </p:grpSpPr>
        <p:pic>
          <p:nvPicPr>
            <p:cNvPr id="4" name="Рисунок 3">
              <a:extLst>
                <a:ext uri="{FF2B5EF4-FFF2-40B4-BE49-F238E27FC236}">
                  <a16:creationId xmlns:a16="http://schemas.microsoft.com/office/drawing/2014/main" id="{339D4845-1ADD-4BFD-7793-B93B184082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-120712"/>
              <a:ext cx="12192000" cy="6858000"/>
            </a:xfrm>
            <a:prstGeom prst="rect">
              <a:avLst/>
            </a:prstGeom>
          </p:spPr>
        </p:pic>
        <p:pic>
          <p:nvPicPr>
            <p:cNvPr id="22" name="Рисунок 21">
              <a:extLst>
                <a:ext uri="{FF2B5EF4-FFF2-40B4-BE49-F238E27FC236}">
                  <a16:creationId xmlns:a16="http://schemas.microsoft.com/office/drawing/2014/main" id="{AC76418D-B16F-4261-B861-F9FAF36AD7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9973" y="568507"/>
              <a:ext cx="6430636" cy="635826"/>
            </a:xfrm>
            <a:prstGeom prst="rect">
              <a:avLst/>
            </a:prstGeom>
          </p:spPr>
        </p:pic>
      </p:grp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34D55EA1-80F2-4115-BF86-378E981C22BC}"/>
              </a:ext>
            </a:extLst>
          </p:cNvPr>
          <p:cNvSpPr txBox="1">
            <a:spLocks/>
          </p:cNvSpPr>
          <p:nvPr/>
        </p:nvSpPr>
        <p:spPr bwMode="auto">
          <a:xfrm>
            <a:off x="569973" y="2727263"/>
            <a:ext cx="9365672" cy="581025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b" anchorCtr="0" forceAA="0" compatLnSpc="0">
            <a:norm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>
                <a:solidFill>
                  <a:srgbClr val="000000"/>
                </a:solidFill>
              </a:rPr>
              <a:t>Создание функциональной веб-платформы для потокового видео</a:t>
            </a:r>
          </a:p>
        </p:txBody>
      </p:sp>
      <p:sp>
        <p:nvSpPr>
          <p:cNvPr id="8" name="Прямоугольник 5">
            <a:extLst>
              <a:ext uri="{FF2B5EF4-FFF2-40B4-BE49-F238E27FC236}">
                <a16:creationId xmlns:a16="http://schemas.microsoft.com/office/drawing/2014/main" id="{07D6506C-44DD-4328-BC4D-E2BC4651C36A}"/>
              </a:ext>
            </a:extLst>
          </p:cNvPr>
          <p:cNvSpPr/>
          <p:nvPr/>
        </p:nvSpPr>
        <p:spPr bwMode="auto">
          <a:xfrm>
            <a:off x="572654" y="3428999"/>
            <a:ext cx="11259127" cy="1518558"/>
          </a:xfrm>
          <a:prstGeom prst="rect">
            <a:avLst/>
          </a:prstGeom>
        </p:spPr>
        <p:txBody>
          <a:bodyPr wrap="square">
            <a:normAutofit lnSpcReduction="10000"/>
          </a:bodyPr>
          <a:lstStyle>
            <a:defPPr>
              <a:defRPr lang="en-US"/>
            </a:defPPr>
            <a:lvl1pPr marL="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78142" marR="8377" indent="-457200">
              <a:lnSpc>
                <a:spcPct val="120000"/>
              </a:lnSpc>
              <a:buAutoNum type="arabicPeriod"/>
              <a:defRPr/>
            </a:pPr>
            <a:r>
              <a:rPr sz="2000"/>
              <a:t>Андреев Андрей Валерьевич, ст. преподаватель «СибГУТИ»</a:t>
            </a:r>
          </a:p>
          <a:p>
            <a:r>
              <a:rPr sz="2000"/>
              <a:t>Лукинов Виталий Леонидович, доцент «СибГУТИ»</a:t>
            </a:r>
          </a:p>
          <a:p>
            <a:r>
              <a:rPr sz="2000"/>
              <a:t/>
            </a:r>
          </a:p>
          <a:p>
            <a:r>
              <a:rPr sz="200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55732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1C01A48-F309-F141-59DD-EB1465BFDA7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мный, ночь&#10;&#10;Автоматически созданное описание">
            <a:extLst>
              <a:ext uri="{FF2B5EF4-FFF2-40B4-BE49-F238E27FC236}">
                <a16:creationId xmlns:a16="http://schemas.microsoft.com/office/drawing/2014/main" id="{6EB5A15E-FB68-3251-3769-C596C901E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801186" y="2387535"/>
            <a:ext cx="7400339" cy="4470465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A4CB0990-4EFE-B60C-4AA6-BBF4E24A8B50}"/>
              </a:ext>
            </a:extLst>
          </p:cNvPr>
          <p:cNvSpPr txBox="1"/>
          <p:nvPr/>
        </p:nvSpPr>
        <p:spPr bwMode="auto">
          <a:xfrm>
            <a:off x="504863" y="354688"/>
            <a:ext cx="8868055" cy="458458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R="5080">
              <a:defRPr/>
            </a:pPr>
            <a:r>
              <a:rPr lang="ru-RU" sz="2900" b="1" dirty="0">
                <a:solidFill>
                  <a:srgbClr val="4547BB"/>
                </a:solidFill>
                <a:latin typeface="Montserrat SemiBold"/>
                <a:cs typeface="Times New Roman"/>
              </a:rPr>
              <a:t>Введение</a:t>
            </a:r>
            <a:r>
              <a:rPr lang="en-US" sz="2900" b="1" dirty="0">
                <a:solidFill>
                  <a:srgbClr val="4547BB"/>
                </a:solidFill>
                <a:latin typeface="Montserrat SemiBold"/>
                <a:cs typeface="Times New Roman"/>
              </a:rPr>
              <a:t> | </a:t>
            </a:r>
            <a:r>
              <a:rPr lang="ru-RU" sz="2900" b="1" dirty="0">
                <a:solidFill>
                  <a:srgbClr val="4547BB"/>
                </a:solidFill>
                <a:latin typeface="Montserrat SemiBold"/>
                <a:cs typeface="Times New Roman"/>
              </a:rPr>
              <a:t>Актуальность </a:t>
            </a:r>
            <a:r>
              <a:rPr lang="en-US" sz="2900" b="1" dirty="0">
                <a:solidFill>
                  <a:srgbClr val="4547BB"/>
                </a:solidFill>
                <a:latin typeface="Montserrat SemiBold"/>
                <a:cs typeface="Times New Roman"/>
              </a:rPr>
              <a:t>| </a:t>
            </a:r>
            <a:r>
              <a:rPr lang="ru-RU" sz="2900" b="1" dirty="0">
                <a:solidFill>
                  <a:srgbClr val="4547BB"/>
                </a:solidFill>
                <a:latin typeface="Montserrat SemiBold"/>
                <a:cs typeface="Times New Roman"/>
              </a:rPr>
              <a:t>Постановка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DE942C1-BCA8-54C0-1495-D664CB821799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838200" y="1169501"/>
            <a:ext cx="10515600" cy="5007462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F0000"/>
                </a:solidFill>
              </a:rPr>
              <a:t>Красный текст по презентации обязательно удаляем и выставляет черный цвет!</a:t>
            </a:r>
          </a:p>
          <a:p>
            <a:pPr>
              <a:defRPr/>
            </a:pPr>
            <a:r>
              <a:rPr lang="ru-RU" dirty="0">
                <a:solidFill>
                  <a:srgbClr val="FF0000"/>
                </a:solidFill>
              </a:rPr>
              <a:t>Неприменимые к вашей работе слайды – обязательно удаляем.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EB0C9EE-454E-759B-4757-5C43CD08D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966121-1BCA-4C1B-854A-CD01A0ABB15E}" type="slidenum">
              <a:rPr lang="ru-RU"/>
              <a:t>2</a:t>
            </a:fld>
            <a:endParaRPr lang="ru-RU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88F5E74-6020-F74F-D174-EA757F7B7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80" y="4019763"/>
            <a:ext cx="12192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C296E9C-B54F-45AD-4548-6832A933B4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873226" y="334121"/>
            <a:ext cx="1701690" cy="381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529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мный, ночь&#10;&#10;Автоматически созданное описание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148254" y="1993105"/>
            <a:ext cx="8053271" cy="4864895"/>
          </a:xfrm>
          <a:prstGeom prst="rect">
            <a:avLst/>
          </a:prstGeom>
        </p:spPr>
      </p:pic>
      <p:sp>
        <p:nvSpPr>
          <p:cNvPr id="5" name="object 4"/>
          <p:cNvSpPr txBox="1"/>
          <p:nvPr/>
        </p:nvSpPr>
        <p:spPr bwMode="auto">
          <a:xfrm>
            <a:off x="504863" y="354688"/>
            <a:ext cx="8868055" cy="460125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R="5080">
              <a:defRPr/>
            </a:pPr>
            <a:r>
              <a:rPr lang="ru-RU" sz="2900" b="1">
                <a:solidFill>
                  <a:srgbClr val="4547BB"/>
                </a:solidFill>
                <a:latin typeface="Montserrat SemiBold"/>
                <a:cs typeface="Times New Roman"/>
              </a:rPr>
              <a:t>Цель и задачи проекта</a:t>
            </a:r>
            <a:endParaRPr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966121-1BCA-4C1B-854A-CD01A0ABB15E}" type="slidenum">
              <a:rPr lang="ru-RU"/>
              <a:t>3</a:t>
            </a:fld>
            <a:endParaRPr lang="ru-RU"/>
          </a:p>
        </p:txBody>
      </p:sp>
      <p:sp>
        <p:nvSpPr>
          <p:cNvPr id="7" name="TextBox 6"/>
          <p:cNvSpPr txBox="1"/>
          <p:nvPr/>
        </p:nvSpPr>
        <p:spPr bwMode="auto">
          <a:xfrm>
            <a:off x="504862" y="1169500"/>
            <a:ext cx="1101006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>
                <a:solidFill>
                  <a:srgbClr val="000000"/>
                </a:solidFill>
              </a:rPr>
              <a:t>Цель проекта:</a:t>
            </a:r>
          </a:p>
          <a:p>
            <a:r>
              <a:rPr>
                <a:solidFill>
                  <a:srgbClr val="000000"/>
                </a:solidFill>
              </a:rPr>
              <a:t>Разработать функциональную веб-платформу для потокового видео</a:t>
            </a:r>
          </a:p>
          <a:p>
            <a:r>
              <a:rPr>
                <a:solidFill>
                  <a:srgbClr val="000000"/>
                </a:solidFill>
              </a:rPr>
              <a:t>с возможностью синхронного совместного просмотра.</a:t>
            </a:r>
          </a:p>
          <a:p>
            <a:r>
              <a:rPr>
                <a:solidFill>
                  <a:srgbClr val="000000"/>
                </a:solidFill>
              </a:rPr>
              <a:t/>
            </a:r>
          </a:p>
          <a:p>
            <a:r>
              <a:rPr>
                <a:solidFill>
                  <a:srgbClr val="000000"/>
                </a:solidFill>
              </a:rPr>
              <a:t>Задачи проекта:</a:t>
            </a:r>
          </a:p>
          <a:p>
            <a:r>
              <a:rPr>
                <a:solidFill>
                  <a:srgbClr val="000000"/>
                </a:solidFill>
              </a:rPr>
              <a:t>1. Спроектировать архитектуру системы: бэкенд, фронтенд, инфраструктура.</a:t>
            </a:r>
          </a:p>
          <a:p>
            <a:r>
              <a:rPr>
                <a:solidFill>
                  <a:srgbClr val="000000"/>
                </a:solidFill>
              </a:rPr>
              <a:t>2. Реализовать потоковую отдачу видео по протоколу HLS.</a:t>
            </a:r>
          </a:p>
          <a:p>
            <a:r>
              <a:rPr>
                <a:solidFill>
                  <a:srgbClr val="000000"/>
                </a:solidFill>
              </a:rPr>
              <a:t>3. Реализовать механизм синхронных комнат на WebSocket с серверной синхронизацией плеера.</a:t>
            </a:r>
          </a:p>
          <a:p>
            <a:r>
              <a:rPr>
                <a:solidFill>
                  <a:srgbClr val="000000"/>
                </a:solidFill>
              </a:rPr>
              <a:t>4. Разработать адаптивный пользовательский интерфейс (десктоп и мобайл).</a:t>
            </a:r>
          </a:p>
          <a:p>
            <a:r>
              <a:rPr>
                <a:solidFill>
                  <a:srgbClr val="000000"/>
                </a:solidFill>
              </a:rPr>
              <a:t>5. Обеспечить контейнерное развёртывание с автоматическим HTTPS.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439076E-4A1C-4494-8F89-87E2E495E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3226" y="334121"/>
            <a:ext cx="1701690" cy="3815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мный, ночь&#10;&#10;Автоматически созданное описание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801186" y="2387535"/>
            <a:ext cx="7400339" cy="4470465"/>
          </a:xfrm>
          <a:prstGeom prst="rect">
            <a:avLst/>
          </a:prstGeom>
        </p:spPr>
      </p:pic>
      <p:sp>
        <p:nvSpPr>
          <p:cNvPr id="5" name="object 4"/>
          <p:cNvSpPr txBox="1"/>
          <p:nvPr/>
        </p:nvSpPr>
        <p:spPr bwMode="auto">
          <a:xfrm>
            <a:off x="504863" y="354688"/>
            <a:ext cx="8868055" cy="460125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R="5080">
              <a:defRPr/>
            </a:pPr>
            <a:r>
              <a:rPr lang="ru-RU" sz="2900" b="1" dirty="0">
                <a:solidFill>
                  <a:srgbClr val="4547BB"/>
                </a:solidFill>
                <a:latin typeface="Montserrat SemiBold"/>
                <a:cs typeface="Times New Roman"/>
              </a:rPr>
              <a:t>Распределение ролей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DE827DFE-BA48-93D3-770E-DBFBBCB6FB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9086701"/>
              </p:ext>
            </p:extLst>
          </p:nvPr>
        </p:nvGraphicFramePr>
        <p:xfrm>
          <a:off x="504863" y="1195005"/>
          <a:ext cx="11070053" cy="446799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3372011">
                  <a:extLst>
                    <a:ext uri="{9D8B030D-6E8A-4147-A177-3AD203B41FA5}">
                      <a16:colId xmlns:a16="http://schemas.microsoft.com/office/drawing/2014/main" val="598796101"/>
                    </a:ext>
                  </a:extLst>
                </a:gridCol>
                <a:gridCol w="7698042">
                  <a:extLst>
                    <a:ext uri="{9D8B030D-6E8A-4147-A177-3AD203B41FA5}">
                      <a16:colId xmlns:a16="http://schemas.microsoft.com/office/drawing/2014/main" val="2565798761"/>
                    </a:ext>
                  </a:extLst>
                </a:gridCol>
              </a:tblGrid>
              <a:tr h="532438">
                <a:tc>
                  <a:txBody>
                    <a:bodyPr/>
                    <a:lstStyle/>
                    <a:p>
                      <a:pPr algn="ctr"/>
                      <a:r>
                        <a:rPr lang="ru-RU" sz="2400" b="0" dirty="0"/>
                        <a:t>Фамилия И.О.</a:t>
                      </a:r>
                      <a:endParaRPr lang="en-US" sz="2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0" dirty="0"/>
                        <a:t>Роль в группе</a:t>
                      </a:r>
                      <a:endParaRPr lang="en-US" sz="24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4871776"/>
                  </a:ext>
                </a:extLst>
              </a:tr>
              <a:tr h="983888"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0000"/>
                          </a:solidFill>
                        </a:rPr>
                        <a:t>Лукинов В.Л.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solidFill>
                            <a:srgbClr val="000000"/>
                          </a:solidFill>
                        </a:rPr>
                        <a:t>Моделирование архитектуры информационной системы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9443718"/>
                  </a:ext>
                </a:extLst>
              </a:tr>
              <a:tr h="983888"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0000"/>
                          </a:solidFill>
                        </a:rPr>
                        <a:t>Лукинов В.Л.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solidFill>
                            <a:srgbClr val="000000"/>
                          </a:solidFill>
                        </a:rPr>
                        <a:t>Разработка бизнес-логики информационной системы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32719"/>
                  </a:ext>
                </a:extLst>
              </a:tr>
              <a:tr h="983888"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0000"/>
                          </a:solidFill>
                        </a:rPr>
                        <a:t>Андреев А.В.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solidFill>
                            <a:srgbClr val="000000"/>
                          </a:solidFill>
                        </a:rPr>
                        <a:t>Прототипирование и разработка пользовательского интерфейса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7395103"/>
                  </a:ext>
                </a:extLst>
              </a:tr>
              <a:tr h="983888"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0000"/>
                          </a:solidFill>
                        </a:rPr>
                        <a:t>Андреев А.В.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solidFill>
                            <a:srgbClr val="000000"/>
                          </a:solidFill>
                        </a:rPr>
                        <a:t>Тестирование и интеграционные работы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6021716"/>
                  </a:ext>
                </a:extLst>
              </a:tr>
            </a:tbl>
          </a:graphicData>
        </a:graphic>
      </p:graphicFrame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966121-1BCA-4C1B-854A-CD01A0ABB15E}" type="slidenum">
              <a:rPr lang="ru-RU"/>
              <a:t>4</a:t>
            </a:fld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687780" y="4019763"/>
            <a:ext cx="12192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E3EC494-15C8-4636-9E7B-A5DB3A1CB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873226" y="334121"/>
            <a:ext cx="1701690" cy="3815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мный, ночь&#10;&#10;Автоматически созданное описание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801186" y="2387535"/>
            <a:ext cx="7400339" cy="4470465"/>
          </a:xfrm>
          <a:prstGeom prst="rect">
            <a:avLst/>
          </a:prstGeom>
        </p:spPr>
      </p:pic>
      <p:sp>
        <p:nvSpPr>
          <p:cNvPr id="5" name="object 4"/>
          <p:cNvSpPr txBox="1"/>
          <p:nvPr/>
        </p:nvSpPr>
        <p:spPr bwMode="auto">
          <a:xfrm>
            <a:off x="504862" y="354687"/>
            <a:ext cx="8873454" cy="454383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R="5080">
              <a:defRPr/>
            </a:pPr>
            <a:r>
              <a:rPr lang="ru-RU" sz="2900" b="1" dirty="0">
                <a:solidFill>
                  <a:srgbClr val="4547BB"/>
                </a:solidFill>
                <a:latin typeface="Montserrat SemiBold"/>
                <a:cs typeface="Times New Roman"/>
              </a:rPr>
              <a:t>Средства реализации</a:t>
            </a: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687780" y="4019763"/>
            <a:ext cx="12192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 lang="ru-RU"/>
          </a:p>
        </p:txBody>
      </p:sp>
      <p:sp>
        <p:nvSpPr>
          <p:cNvPr id="1328844343" name="Объект 2"/>
          <p:cNvSpPr>
            <a:spLocks noGrp="1"/>
          </p:cNvSpPr>
          <p:nvPr>
            <p:ph idx="1"/>
          </p:nvPr>
        </p:nvSpPr>
        <p:spPr bwMode="auto">
          <a:xfrm>
            <a:off x="838199" y="1164166"/>
            <a:ext cx="10515600" cy="5012796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000000"/>
                </a:solidFill>
              </a:rPr>
              <a:t>Бэкенд: Python 3.10+, Django 5.1, Django REST Framework 3.15, Django Channels 4.1 (ASGI + WebSocket)</a:t>
            </a:r>
            <a:endParaRPr dirty="0"/>
          </a:p>
          <a:p>
            <a:r>
              <a:rPr>
                <a:solidFill>
                  <a:srgbClr val="000000"/>
                </a:solidFill>
              </a:rPr>
              <a:t>База данных: PostgreSQL 16 (продакшен), SQLite (разработка)</a:t>
            </a:r>
          </a:p>
          <a:p>
            <a:r>
              <a:rPr>
                <a:solidFill>
                  <a:srgbClr val="000000"/>
                </a:solidFill>
              </a:rPr>
              <a:t>Кэш и pub/sub: Redis 7 (channel layer для WebSocket)</a:t>
            </a:r>
          </a:p>
          <a:p>
            <a:r>
              <a:rPr>
                <a:solidFill>
                  <a:srgbClr val="000000"/>
                </a:solidFill>
              </a:rPr>
              <a:t>Фронтенд: React 19.2, React Router 7, Vite 8, axios</a:t>
            </a:r>
          </a:p>
          <a:p>
            <a:r>
              <a:rPr>
                <a:solidFill>
                  <a:srgbClr val="000000"/>
                </a:solidFill>
              </a:rPr>
              <a:t>Потоковое видео: HLS (HTTP Live Streaming), hls.js, HTML5 video</a:t>
            </a:r>
          </a:p>
          <a:p>
            <a:r>
              <a:rPr>
                <a:solidFill>
                  <a:srgbClr val="000000"/>
                </a:solidFill>
              </a:rPr>
              <a:t>Инфраструктура: Docker, docker-compose, Caddy (reverse proxy и auto-HTTPS Let's Encrypt)</a:t>
            </a:r>
          </a:p>
          <a:p>
            <a:r>
              <a:rPr>
                <a:solidFill>
                  <a:srgbClr val="000000"/>
                </a:solidFill>
              </a:rPr>
              <a:t>Тестирование: pytest + pytest-asyncio (бэк), Vitest + Testing Library (фронт)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42F0C17-9A1C-4B74-A3E6-1DD7E3939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873226" y="334121"/>
            <a:ext cx="1701690" cy="3815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E730EEC-E5BD-12A3-59A4-288B28AD163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мный, ночь&#10;&#10;Автоматически созданное описание">
            <a:extLst>
              <a:ext uri="{FF2B5EF4-FFF2-40B4-BE49-F238E27FC236}">
                <a16:creationId xmlns:a16="http://schemas.microsoft.com/office/drawing/2014/main" id="{9783D3BA-C2ED-7082-63E3-2761A5874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801186" y="2387535"/>
            <a:ext cx="7400339" cy="4470465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4C0C9E31-8785-CA1F-6918-1761FC3F0CAE}"/>
              </a:ext>
            </a:extLst>
          </p:cNvPr>
          <p:cNvSpPr txBox="1"/>
          <p:nvPr/>
        </p:nvSpPr>
        <p:spPr bwMode="auto">
          <a:xfrm>
            <a:off x="504862" y="354687"/>
            <a:ext cx="8873454" cy="454383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R="5080">
              <a:defRPr/>
            </a:pPr>
            <a:r>
              <a:rPr lang="ru-RU" sz="2900" b="1" dirty="0">
                <a:solidFill>
                  <a:srgbClr val="4547BB"/>
                </a:solidFill>
                <a:latin typeface="Montserrat SemiBold"/>
                <a:cs typeface="Times New Roman"/>
              </a:rPr>
              <a:t>Планирование работ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2D620E6-3FB6-22F9-278B-A10F91E911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80" y="4019763"/>
            <a:ext cx="12192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 lang="ru-RU"/>
          </a:p>
        </p:txBody>
      </p:sp>
      <p:sp>
        <p:nvSpPr>
          <p:cNvPr id="1328844343" name="Объект 2">
            <a:extLst>
              <a:ext uri="{FF2B5EF4-FFF2-40B4-BE49-F238E27FC236}">
                <a16:creationId xmlns:a16="http://schemas.microsoft.com/office/drawing/2014/main" id="{768C91AD-5181-CB55-47AA-FDA070921AE1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838199" y="1164166"/>
            <a:ext cx="10515600" cy="5012796"/>
          </a:xfrm>
        </p:spPr>
        <p:txBody>
          <a:bodyPr anchor="ctr"/>
          <a:lstStyle/>
          <a:p>
            <a:pPr marL="0" indent="0" algn="ctr">
              <a:buNone/>
              <a:defRPr/>
            </a:pPr>
            <a:r>
              <a:rPr lang="ru-RU" dirty="0">
                <a:solidFill>
                  <a:srgbClr val="FF0000"/>
                </a:solidFill>
              </a:rPr>
              <a:t>Диаграмма </a:t>
            </a:r>
            <a:r>
              <a:rPr lang="en-US" dirty="0">
                <a:solidFill>
                  <a:srgbClr val="FF0000"/>
                </a:solidFill>
              </a:rPr>
              <a:t>PERT </a:t>
            </a:r>
            <a:r>
              <a:rPr lang="ru-RU" dirty="0">
                <a:solidFill>
                  <a:srgbClr val="FF0000"/>
                </a:solidFill>
              </a:rPr>
              <a:t>или диаграмма </a:t>
            </a:r>
            <a:r>
              <a:rPr lang="ru-RU" dirty="0" err="1">
                <a:solidFill>
                  <a:srgbClr val="FF0000"/>
                </a:solidFill>
              </a:rPr>
              <a:t>Ганта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D548B31-CA36-0AC1-7085-2F6F079EA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873226" y="334121"/>
            <a:ext cx="1701690" cy="381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761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мный, ночь&#10;&#10;Автоматически созданное описание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801186" y="2387535"/>
            <a:ext cx="7400339" cy="4470465"/>
          </a:xfrm>
          <a:prstGeom prst="rect">
            <a:avLst/>
          </a:prstGeom>
        </p:spPr>
      </p:pic>
      <p:sp>
        <p:nvSpPr>
          <p:cNvPr id="5" name="object 4"/>
          <p:cNvSpPr txBox="1"/>
          <p:nvPr/>
        </p:nvSpPr>
        <p:spPr bwMode="auto">
          <a:xfrm>
            <a:off x="504862" y="354687"/>
            <a:ext cx="8873454" cy="454383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R="5080">
              <a:defRPr/>
            </a:pPr>
            <a:r>
              <a:rPr lang="ru-RU" sz="2900" b="1" dirty="0">
                <a:solidFill>
                  <a:srgbClr val="4547BB"/>
                </a:solidFill>
                <a:latin typeface="Montserrat SemiBold"/>
                <a:cs typeface="Times New Roman"/>
              </a:rPr>
              <a:t>Архитектура системы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966121-1BCA-4C1B-854A-CD01A0ABB15E}" type="slidenum">
              <a:rPr lang="ru-RU"/>
              <a:t>7</a:t>
            </a:fld>
            <a:endParaRPr lang="ru-RU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687780" y="4019763"/>
            <a:ext cx="12192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 lang="ru-RU"/>
          </a:p>
        </p:txBody>
      </p:sp>
      <p:sp>
        <p:nvSpPr>
          <p:cNvPr id="7" name="Content Placeholder 10"/>
          <p:cNvSpPr>
            <a:spLocks noGrp="1"/>
          </p:cNvSpPr>
          <p:nvPr>
            <p:ph idx="1"/>
          </p:nvPr>
        </p:nvSpPr>
        <p:spPr bwMode="auto">
          <a:xfrm>
            <a:off x="838200" y="1169501"/>
            <a:ext cx="10515600" cy="5007462"/>
          </a:xfrm>
        </p:spPr>
        <p:txBody>
          <a:bodyPr anchor="ctr"/>
          <a:lstStyle/>
          <a:p>
            <a:pPr marL="0" indent="0" algn="ctr">
              <a:buNone/>
              <a:defRPr/>
            </a:pPr>
            <a:r>
              <a:rPr lang="ru-RU" dirty="0">
                <a:solidFill>
                  <a:srgbClr val="FF0000"/>
                </a:solidFill>
              </a:rPr>
              <a:t>Архитектурная диаграмма системы в нотации </a:t>
            </a:r>
            <a:r>
              <a:rPr lang="en-US" dirty="0">
                <a:solidFill>
                  <a:srgbClr val="FF0000"/>
                </a:solidFill>
              </a:rPr>
              <a:t>C4 </a:t>
            </a:r>
            <a:r>
              <a:rPr lang="ru-RU" dirty="0">
                <a:solidFill>
                  <a:srgbClr val="FF0000"/>
                </a:solidFill>
              </a:rPr>
              <a:t>или </a:t>
            </a:r>
            <a:r>
              <a:rPr lang="en-US" dirty="0">
                <a:solidFill>
                  <a:srgbClr val="FF0000"/>
                </a:solidFill>
              </a:rPr>
              <a:t>ArchiMate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5E64BC6-4847-46ED-83D2-8027BDCB0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873226" y="334121"/>
            <a:ext cx="1701690" cy="3815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мный, ночь&#10;&#10;Автоматически созданное описание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801186" y="2387535"/>
            <a:ext cx="7400339" cy="4470465"/>
          </a:xfrm>
          <a:prstGeom prst="rect">
            <a:avLst/>
          </a:prstGeom>
        </p:spPr>
      </p:pic>
      <p:sp>
        <p:nvSpPr>
          <p:cNvPr id="5" name="object 4"/>
          <p:cNvSpPr txBox="1"/>
          <p:nvPr/>
        </p:nvSpPr>
        <p:spPr bwMode="auto">
          <a:xfrm>
            <a:off x="504862" y="354687"/>
            <a:ext cx="8873454" cy="454383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R="5080">
              <a:defRPr/>
            </a:pPr>
            <a:r>
              <a:rPr lang="ru-RU" sz="2900" b="1" dirty="0">
                <a:solidFill>
                  <a:srgbClr val="4547BB"/>
                </a:solidFill>
                <a:latin typeface="Montserrat SemiBold"/>
                <a:cs typeface="Times New Roman"/>
              </a:rPr>
              <a:t>Диаграммы кода</a:t>
            </a: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687780" y="4019763"/>
            <a:ext cx="12192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 lang="ru-RU"/>
          </a:p>
        </p:txBody>
      </p:sp>
      <p:sp>
        <p:nvSpPr>
          <p:cNvPr id="7" name="Content Placeholder 10"/>
          <p:cNvSpPr>
            <a:spLocks noGrp="1"/>
          </p:cNvSpPr>
          <p:nvPr>
            <p:ph idx="1"/>
          </p:nvPr>
        </p:nvSpPr>
        <p:spPr bwMode="auto">
          <a:xfrm>
            <a:off x="838200" y="1169501"/>
            <a:ext cx="10515600" cy="5007462"/>
          </a:xfrm>
        </p:spPr>
        <p:txBody>
          <a:bodyPr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</a:rPr>
              <a:t>UML </a:t>
            </a:r>
            <a:r>
              <a:rPr lang="ru-RU" dirty="0">
                <a:solidFill>
                  <a:srgbClr val="FF0000"/>
                </a:solidFill>
              </a:rPr>
              <a:t>и </a:t>
            </a:r>
            <a:r>
              <a:rPr lang="en-US" dirty="0">
                <a:solidFill>
                  <a:srgbClr val="FF0000"/>
                </a:solidFill>
              </a:rPr>
              <a:t>ERD </a:t>
            </a:r>
            <a:r>
              <a:rPr lang="ru-RU" dirty="0">
                <a:solidFill>
                  <a:srgbClr val="FF0000"/>
                </a:solidFill>
              </a:rPr>
              <a:t>диаграммы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77408CF-A939-4CDF-A101-7EA997792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873226" y="334121"/>
            <a:ext cx="1701690" cy="3815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4523931-B4A3-D29B-41C2-72BC00A2B2C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мный, ночь&#10;&#10;Автоматически созданное описание">
            <a:extLst>
              <a:ext uri="{FF2B5EF4-FFF2-40B4-BE49-F238E27FC236}">
                <a16:creationId xmlns:a16="http://schemas.microsoft.com/office/drawing/2014/main" id="{DE462973-53A6-A7FD-67CB-39B747738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801186" y="2387535"/>
            <a:ext cx="7400339" cy="4470465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246FDBCB-6ECE-A484-22B4-258255FE3DB9}"/>
              </a:ext>
            </a:extLst>
          </p:cNvPr>
          <p:cNvSpPr txBox="1"/>
          <p:nvPr/>
        </p:nvSpPr>
        <p:spPr bwMode="auto">
          <a:xfrm>
            <a:off x="504862" y="354687"/>
            <a:ext cx="8873454" cy="904734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R="5080">
              <a:defRPr/>
            </a:pPr>
            <a:r>
              <a:rPr lang="ru-RU" sz="2900" b="1" dirty="0">
                <a:solidFill>
                  <a:srgbClr val="4547BB"/>
                </a:solidFill>
                <a:latin typeface="Montserrat SemiBold"/>
                <a:cs typeface="Times New Roman"/>
              </a:rPr>
              <a:t>Диаграмма компонентов пользовательского интерфейса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8CE606B-34A8-7C87-721F-17088DAA6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80" y="4019763"/>
            <a:ext cx="12192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 lang="ru-RU"/>
          </a:p>
        </p:txBody>
      </p:sp>
      <p:sp>
        <p:nvSpPr>
          <p:cNvPr id="7" name="Content Placeholder 10">
            <a:extLst>
              <a:ext uri="{FF2B5EF4-FFF2-40B4-BE49-F238E27FC236}">
                <a16:creationId xmlns:a16="http://schemas.microsoft.com/office/drawing/2014/main" id="{6EF42B22-654E-3EE2-F81D-E9AB4CC90637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838200" y="1169501"/>
            <a:ext cx="10515600" cy="5007462"/>
          </a:xfrm>
        </p:spPr>
        <p:txBody>
          <a:bodyPr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</a:rPr>
              <a:t>UML-</a:t>
            </a:r>
            <a:r>
              <a:rPr lang="ru-RU" dirty="0">
                <a:solidFill>
                  <a:srgbClr val="FF0000"/>
                </a:solidFill>
              </a:rPr>
              <a:t>диаграмма компонентов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09D175A-365E-F332-34DF-893A53A0E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873226" y="334121"/>
            <a:ext cx="1701690" cy="381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363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D55D781-4E33-3B8F-56CC-2C0E06CAE72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мный, ночь&#10;&#10;Автоматически созданное описание">
            <a:extLst>
              <a:ext uri="{FF2B5EF4-FFF2-40B4-BE49-F238E27FC236}">
                <a16:creationId xmlns:a16="http://schemas.microsoft.com/office/drawing/2014/main" id="{D65B3937-A138-5DBD-D7E2-84368F720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801186" y="2387535"/>
            <a:ext cx="7400339" cy="4470465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4CD89420-2099-5401-2765-DDBE75C7CFF7}"/>
              </a:ext>
            </a:extLst>
          </p:cNvPr>
          <p:cNvSpPr txBox="1"/>
          <p:nvPr/>
        </p:nvSpPr>
        <p:spPr bwMode="auto">
          <a:xfrm>
            <a:off x="504862" y="354687"/>
            <a:ext cx="8873454" cy="904734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R="5080">
              <a:defRPr/>
            </a:pPr>
            <a:r>
              <a:rPr lang="ru-RU" sz="2900" b="1" dirty="0">
                <a:solidFill>
                  <a:srgbClr val="4547BB"/>
                </a:solidFill>
                <a:latin typeface="Montserrat SemiBold"/>
                <a:cs typeface="Times New Roman"/>
              </a:rPr>
              <a:t>Прототипирование пользовательского интерфейса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8A27461-A6C1-42F4-E02E-CB2EF5AEBF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80" y="4019763"/>
            <a:ext cx="12192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 lang="ru-RU"/>
          </a:p>
        </p:txBody>
      </p:sp>
      <p:sp>
        <p:nvSpPr>
          <p:cNvPr id="7" name="Content Placeholder 10">
            <a:extLst>
              <a:ext uri="{FF2B5EF4-FFF2-40B4-BE49-F238E27FC236}">
                <a16:creationId xmlns:a16="http://schemas.microsoft.com/office/drawing/2014/main" id="{D0563B9F-4814-FA29-6711-AA573946015D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838200" y="1169501"/>
            <a:ext cx="10515600" cy="5007462"/>
          </a:xfrm>
        </p:spPr>
        <p:txBody>
          <a:bodyPr anchor="ctr">
            <a:normAutofit/>
          </a:bodyPr>
          <a:lstStyle/>
          <a:p>
            <a:pPr marL="0" indent="0" algn="ctr">
              <a:buNone/>
              <a:defRPr/>
            </a:pPr>
            <a:r>
              <a:rPr lang="ru-RU" dirty="0">
                <a:solidFill>
                  <a:srgbClr val="FF0000"/>
                </a:solidFill>
              </a:rPr>
              <a:t>Макет пользовательского интерфейса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0F213F9-8E23-F0FE-6C70-0DB1CB00B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873226" y="334121"/>
            <a:ext cx="1701690" cy="381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426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69ADD48-981C-4C2D-0F27-E1A5AECC338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мный, ночь&#10;&#10;Автоматически созданное описание">
            <a:extLst>
              <a:ext uri="{FF2B5EF4-FFF2-40B4-BE49-F238E27FC236}">
                <a16:creationId xmlns:a16="http://schemas.microsoft.com/office/drawing/2014/main" id="{79ED3537-D6F5-0897-AD41-18D1B4CBF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801186" y="2387535"/>
            <a:ext cx="7400339" cy="4470465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CED32DC8-E6DA-0A0A-6FC8-4D1937D9A69D}"/>
              </a:ext>
            </a:extLst>
          </p:cNvPr>
          <p:cNvSpPr txBox="1"/>
          <p:nvPr/>
        </p:nvSpPr>
        <p:spPr bwMode="auto">
          <a:xfrm>
            <a:off x="504862" y="354687"/>
            <a:ext cx="8873454" cy="454383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R="5080">
              <a:defRPr/>
            </a:pPr>
            <a:r>
              <a:rPr lang="ru-RU" sz="2900" b="1" dirty="0">
                <a:solidFill>
                  <a:srgbClr val="4547BB"/>
                </a:solidFill>
                <a:latin typeface="Montserrat SemiBold"/>
                <a:cs typeface="Times New Roman"/>
              </a:rPr>
              <a:t>Диаграммы кода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CBAE643-2EC1-1F33-E5C4-5136E1145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80" y="4019763"/>
            <a:ext cx="12192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 lang="ru-RU"/>
          </a:p>
        </p:txBody>
      </p:sp>
      <p:sp>
        <p:nvSpPr>
          <p:cNvPr id="7" name="Content Placeholder 10">
            <a:extLst>
              <a:ext uri="{FF2B5EF4-FFF2-40B4-BE49-F238E27FC236}">
                <a16:creationId xmlns:a16="http://schemas.microsoft.com/office/drawing/2014/main" id="{C17CCFD5-39E6-D435-D080-4A78AFFA159E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838200" y="1169501"/>
            <a:ext cx="10515600" cy="5007462"/>
          </a:xfrm>
        </p:spPr>
        <p:txBody>
          <a:bodyPr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</a:rPr>
              <a:t>UML </a:t>
            </a:r>
            <a:r>
              <a:rPr lang="ru-RU" dirty="0">
                <a:solidFill>
                  <a:srgbClr val="FF0000"/>
                </a:solidFill>
              </a:rPr>
              <a:t>и </a:t>
            </a:r>
            <a:r>
              <a:rPr lang="en-US" dirty="0">
                <a:solidFill>
                  <a:srgbClr val="FF0000"/>
                </a:solidFill>
              </a:rPr>
              <a:t>ERD </a:t>
            </a:r>
            <a:r>
              <a:rPr lang="ru-RU" dirty="0">
                <a:solidFill>
                  <a:srgbClr val="FF0000"/>
                </a:solidFill>
              </a:rPr>
              <a:t>диаграммы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4DEDACB-7587-D090-C319-658270C47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873226" y="334121"/>
            <a:ext cx="1701690" cy="381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569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061B26E-47E9-3991-2F30-F7FFC15742D7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мный, ночь&#10;&#10;Автоматически созданное описание">
            <a:extLst>
              <a:ext uri="{FF2B5EF4-FFF2-40B4-BE49-F238E27FC236}">
                <a16:creationId xmlns:a16="http://schemas.microsoft.com/office/drawing/2014/main" id="{8969B4B7-85E6-DD26-FDF1-1705B3D81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801186" y="2387535"/>
            <a:ext cx="7400339" cy="4470465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8F7C5EEA-A5D1-951F-A0D3-6787CF0F2FC8}"/>
              </a:ext>
            </a:extLst>
          </p:cNvPr>
          <p:cNvSpPr txBox="1"/>
          <p:nvPr/>
        </p:nvSpPr>
        <p:spPr bwMode="auto">
          <a:xfrm>
            <a:off x="504862" y="354687"/>
            <a:ext cx="8873454" cy="454383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R="5080">
              <a:defRPr/>
            </a:pPr>
            <a:r>
              <a:rPr lang="ru-RU" sz="2900" b="1" dirty="0">
                <a:solidFill>
                  <a:srgbClr val="4547BB"/>
                </a:solidFill>
                <a:latin typeface="Montserrat SemiBold"/>
                <a:cs typeface="Times New Roman"/>
              </a:rPr>
              <a:t>Алгоритм валидации данных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B7E7FCA-CBCA-49ED-F666-2C58FAAFF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80" y="4019763"/>
            <a:ext cx="12192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3414976-550D-E78D-C510-8A0CDDE93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873226" y="334121"/>
            <a:ext cx="1701690" cy="381514"/>
          </a:xfrm>
          <a:prstGeom prst="rect">
            <a:avLst/>
          </a:prstGeom>
        </p:spPr>
      </p:pic>
      <p:sp>
        <p:nvSpPr>
          <p:cNvPr id="2" name="Content Placeholder 10">
            <a:extLst>
              <a:ext uri="{FF2B5EF4-FFF2-40B4-BE49-F238E27FC236}">
                <a16:creationId xmlns:a16="http://schemas.microsoft.com/office/drawing/2014/main" id="{3CD015C4-A551-7BD6-6851-389B78FEB361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838200" y="1169501"/>
            <a:ext cx="10515600" cy="5007462"/>
          </a:xfrm>
        </p:spPr>
        <p:txBody>
          <a:bodyPr anchor="ctr">
            <a:normAutofit/>
          </a:bodyPr>
          <a:lstStyle/>
          <a:p>
            <a:pPr marL="0" indent="0" algn="ctr">
              <a:buNone/>
              <a:defRPr/>
            </a:pPr>
            <a:r>
              <a:rPr lang="ru-RU" dirty="0">
                <a:solidFill>
                  <a:srgbClr val="FF0000"/>
                </a:solidFill>
              </a:rPr>
              <a:t>Алгоритмическая диаграмма</a:t>
            </a:r>
            <a:endParaRPr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0471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A186282-D9AC-36E0-B2F0-EC5E6503881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мный, ночь&#10;&#10;Автоматически созданное описание">
            <a:extLst>
              <a:ext uri="{FF2B5EF4-FFF2-40B4-BE49-F238E27FC236}">
                <a16:creationId xmlns:a16="http://schemas.microsoft.com/office/drawing/2014/main" id="{7D22095E-7F38-5D6B-E946-2B89B20F7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801186" y="2387535"/>
            <a:ext cx="7400339" cy="4470465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381A78C1-93F1-CCB9-6186-F26B7023D4DF}"/>
              </a:ext>
            </a:extLst>
          </p:cNvPr>
          <p:cNvSpPr txBox="1"/>
          <p:nvPr/>
        </p:nvSpPr>
        <p:spPr bwMode="auto">
          <a:xfrm>
            <a:off x="504862" y="354687"/>
            <a:ext cx="8873454" cy="454383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R="5080">
              <a:defRPr/>
            </a:pPr>
            <a:r>
              <a:rPr lang="ru-RU" sz="2900" b="1" dirty="0">
                <a:solidFill>
                  <a:srgbClr val="4547BB"/>
                </a:solidFill>
                <a:latin typeface="Montserrat SemiBold"/>
                <a:cs typeface="Times New Roman"/>
              </a:rPr>
              <a:t>Пример датасета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978CF5D-AD30-4C2A-7749-97FC2EEEF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80" y="4019763"/>
            <a:ext cx="12192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DF3F572-96BA-CA56-108D-D98EE0B78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873226" y="334121"/>
            <a:ext cx="1701690" cy="381514"/>
          </a:xfrm>
          <a:prstGeom prst="rect">
            <a:avLst/>
          </a:prstGeom>
        </p:spPr>
      </p:pic>
      <p:sp>
        <p:nvSpPr>
          <p:cNvPr id="2" name="Content Placeholder 10">
            <a:extLst>
              <a:ext uri="{FF2B5EF4-FFF2-40B4-BE49-F238E27FC236}">
                <a16:creationId xmlns:a16="http://schemas.microsoft.com/office/drawing/2014/main" id="{3F52B0D5-AF48-13C8-CD80-98865AA9BD29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838200" y="1169501"/>
            <a:ext cx="10515600" cy="5007462"/>
          </a:xfrm>
        </p:spPr>
        <p:txBody>
          <a:bodyPr anchor="ctr">
            <a:normAutofit/>
          </a:bodyPr>
          <a:lstStyle/>
          <a:p>
            <a:pPr marL="0" indent="0" algn="ctr">
              <a:buNone/>
              <a:defRPr/>
            </a:pPr>
            <a:r>
              <a:rPr lang="ru-RU" dirty="0">
                <a:solidFill>
                  <a:srgbClr val="FF0000"/>
                </a:solidFill>
              </a:rPr>
              <a:t>Изображения, таблица, описание данных, используемых для обучения нейросетевой модели</a:t>
            </a:r>
            <a:endParaRPr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2528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3B2B86B-0CBA-6F6E-DC9F-891FAFD378EA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мный, ночь&#10;&#10;Автоматически созданное описание">
            <a:extLst>
              <a:ext uri="{FF2B5EF4-FFF2-40B4-BE49-F238E27FC236}">
                <a16:creationId xmlns:a16="http://schemas.microsoft.com/office/drawing/2014/main" id="{DE8F66CB-97CC-83AA-2DBF-34352652D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801186" y="2387535"/>
            <a:ext cx="7400339" cy="4470465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C0EB0A18-FF49-14EC-883D-9DA08E1D9ABC}"/>
              </a:ext>
            </a:extLst>
          </p:cNvPr>
          <p:cNvSpPr txBox="1"/>
          <p:nvPr/>
        </p:nvSpPr>
        <p:spPr bwMode="auto">
          <a:xfrm>
            <a:off x="504862" y="354687"/>
            <a:ext cx="8873454" cy="454383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R="5080">
              <a:defRPr/>
            </a:pPr>
            <a:r>
              <a:rPr lang="ru-RU" sz="2900" b="1" dirty="0">
                <a:solidFill>
                  <a:srgbClr val="4547BB"/>
                </a:solidFill>
                <a:latin typeface="Montserrat SemiBold"/>
                <a:cs typeface="Times New Roman"/>
              </a:rPr>
              <a:t>Оценка эффективности нейросети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926FAE4-354D-58C3-E3FB-C740A1404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80" y="4019763"/>
            <a:ext cx="12192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B0EDB24-0CF1-F2A0-52DB-632D5B6D58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873226" y="334121"/>
            <a:ext cx="1701690" cy="381514"/>
          </a:xfrm>
          <a:prstGeom prst="rect">
            <a:avLst/>
          </a:prstGeom>
        </p:spPr>
      </p:pic>
      <p:sp>
        <p:nvSpPr>
          <p:cNvPr id="2" name="Content Placeholder 10">
            <a:extLst>
              <a:ext uri="{FF2B5EF4-FFF2-40B4-BE49-F238E27FC236}">
                <a16:creationId xmlns:a16="http://schemas.microsoft.com/office/drawing/2014/main" id="{AF71301B-8DF7-D7AF-0D88-66222FDC24F4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838200" y="1169501"/>
            <a:ext cx="10515600" cy="5007462"/>
          </a:xfrm>
        </p:spPr>
        <p:txBody>
          <a:bodyPr anchor="ctr">
            <a:normAutofit/>
          </a:bodyPr>
          <a:lstStyle/>
          <a:p>
            <a:pPr marL="0" indent="0" algn="ctr">
              <a:buNone/>
              <a:defRPr/>
            </a:pPr>
            <a:r>
              <a:rPr lang="ru-RU" dirty="0">
                <a:solidFill>
                  <a:srgbClr val="FF0000"/>
                </a:solidFill>
              </a:rPr>
              <a:t>Графики, таблицы, цифры</a:t>
            </a:r>
          </a:p>
        </p:txBody>
      </p:sp>
    </p:spTree>
    <p:extLst>
      <p:ext uri="{BB962C8B-B14F-4D97-AF65-F5344CB8AC3E}">
        <p14:creationId xmlns:p14="http://schemas.microsoft.com/office/powerpoint/2010/main" val="156228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2B80899-1B30-FDD4-13D8-201C1E87A02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мный, ночь&#10;&#10;Автоматически созданное описание">
            <a:extLst>
              <a:ext uri="{FF2B5EF4-FFF2-40B4-BE49-F238E27FC236}">
                <a16:creationId xmlns:a16="http://schemas.microsoft.com/office/drawing/2014/main" id="{485BE09A-B27E-A84A-41B1-CFE1146DE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801186" y="2387535"/>
            <a:ext cx="7400339" cy="4470465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959E70A8-BB8F-BBB1-D8CA-591C3DC1F5E6}"/>
              </a:ext>
            </a:extLst>
          </p:cNvPr>
          <p:cNvSpPr txBox="1"/>
          <p:nvPr/>
        </p:nvSpPr>
        <p:spPr bwMode="auto">
          <a:xfrm>
            <a:off x="504862" y="354687"/>
            <a:ext cx="8873454" cy="454383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R="5080">
              <a:defRPr/>
            </a:pPr>
            <a:r>
              <a:rPr lang="ru-RU" sz="2900" b="1" dirty="0">
                <a:solidFill>
                  <a:srgbClr val="4547BB"/>
                </a:solidFill>
                <a:latin typeface="Montserrat SemiBold"/>
                <a:cs typeface="Times New Roman"/>
              </a:rPr>
              <a:t>Пример функции</a:t>
            </a:r>
            <a:r>
              <a:rPr lang="en-US" sz="2900" b="1" dirty="0">
                <a:solidFill>
                  <a:srgbClr val="4547BB"/>
                </a:solidFill>
                <a:latin typeface="Montserrat SemiBold"/>
                <a:cs typeface="Times New Roman"/>
              </a:rPr>
              <a:t> </a:t>
            </a:r>
            <a:r>
              <a:rPr lang="ru-RU" sz="2900" b="1" dirty="0">
                <a:solidFill>
                  <a:srgbClr val="4547BB"/>
                </a:solidFill>
                <a:latin typeface="Montserrat SemiBold"/>
                <a:cs typeface="Times New Roman"/>
              </a:rPr>
              <a:t>«Счётчик»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6DBF464B-149B-36D0-F1B7-E374821E2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80" y="4019763"/>
            <a:ext cx="12192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25B22ED-AEF6-3E0F-4C77-861470006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873226" y="334121"/>
            <a:ext cx="1701690" cy="381514"/>
          </a:xfrm>
          <a:prstGeom prst="rect">
            <a:avLst/>
          </a:prstGeom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9048C9F-56A6-F295-DA98-D7825E07BE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 bwMode="auto">
          <a:xfrm>
            <a:off x="1311109" y="1169988"/>
            <a:ext cx="9569782" cy="5006975"/>
          </a:xfrm>
        </p:spPr>
      </p:pic>
    </p:spTree>
    <p:extLst>
      <p:ext uri="{BB962C8B-B14F-4D97-AF65-F5344CB8AC3E}">
        <p14:creationId xmlns:p14="http://schemas.microsoft.com/office/powerpoint/2010/main" val="23286527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1D8505D-97D4-7B39-B6EE-0D77AA0889E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мный, ночь&#10;&#10;Автоматически созданное описание">
            <a:extLst>
              <a:ext uri="{FF2B5EF4-FFF2-40B4-BE49-F238E27FC236}">
                <a16:creationId xmlns:a16="http://schemas.microsoft.com/office/drawing/2014/main" id="{83265405-C216-46F2-3398-A6D0103B8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801186" y="2387535"/>
            <a:ext cx="7400339" cy="4470465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F1277DA6-D3A5-2E3E-F3B8-267C0A6E6E54}"/>
              </a:ext>
            </a:extLst>
          </p:cNvPr>
          <p:cNvSpPr txBox="1"/>
          <p:nvPr/>
        </p:nvSpPr>
        <p:spPr bwMode="auto">
          <a:xfrm>
            <a:off x="504862" y="354687"/>
            <a:ext cx="8873454" cy="454383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R="5080">
              <a:defRPr/>
            </a:pPr>
            <a:r>
              <a:rPr lang="ru-RU" sz="2900" b="1" dirty="0">
                <a:solidFill>
                  <a:srgbClr val="4547BB"/>
                </a:solidFill>
                <a:latin typeface="Montserrat SemiBold"/>
                <a:cs typeface="Times New Roman"/>
              </a:rPr>
              <a:t>Тестирование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5133CF5-32B7-04BE-4EDA-B7C3C9FD7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80" y="4019763"/>
            <a:ext cx="12192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AD999FA-900C-AE61-F653-2985DD70D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873226" y="334121"/>
            <a:ext cx="1701690" cy="381514"/>
          </a:xfrm>
          <a:prstGeom prst="rect">
            <a:avLst/>
          </a:prstGeom>
        </p:spPr>
      </p:pic>
      <p:sp>
        <p:nvSpPr>
          <p:cNvPr id="2" name="Content Placeholder 10">
            <a:extLst>
              <a:ext uri="{FF2B5EF4-FFF2-40B4-BE49-F238E27FC236}">
                <a16:creationId xmlns:a16="http://schemas.microsoft.com/office/drawing/2014/main" id="{B3A6E389-6B49-6763-AE0B-6431E6989156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838200" y="1169501"/>
            <a:ext cx="10515600" cy="5007462"/>
          </a:xfrm>
        </p:spPr>
        <p:txBody>
          <a:bodyPr anchor="ctr">
            <a:normAutofit/>
          </a:bodyPr>
          <a:lstStyle/>
          <a:p>
            <a:pPr marL="0" indent="0" algn="ctr">
              <a:buNone/>
              <a:defRPr/>
            </a:pPr>
            <a:r>
              <a:rPr>
                <a:solidFill>
                  <a:srgbClr val="000000"/>
                </a:solidFill>
              </a:rPr>
              <a:t>Бэкенд (pytest + pytest-asyncio):</a:t>
            </a:r>
          </a:p>
          <a:p>
            <a:r>
              <a:rPr>
                <a:solidFill>
                  <a:srgbClr val="000000"/>
                </a:solidFill>
              </a:rPr>
              <a:t>  – юнит-тесты сервисов аутентификации, сериализаторов, парсеров каталога;</a:t>
            </a:r>
          </a:p>
          <a:p>
            <a:r>
              <a:rPr>
                <a:solidFill>
                  <a:srgbClr val="000000"/>
                </a:solidFill>
              </a:rPr>
              <a:t>  – интеграционные тесты ASGI WebSocket-консьюмеров комнат.</a:t>
            </a:r>
          </a:p>
          <a:p>
            <a:r>
              <a:rPr>
                <a:solidFill>
                  <a:srgbClr val="000000"/>
                </a:solidFill>
              </a:rPr>
              <a:t/>
            </a:r>
          </a:p>
          <a:p>
            <a:r>
              <a:rPr>
                <a:solidFill>
                  <a:srgbClr val="000000"/>
                </a:solidFill>
              </a:rPr>
              <a:t>Фронтенд (Vitest + @testing-library/react):</a:t>
            </a:r>
          </a:p>
          <a:p>
            <a:r>
              <a:rPr>
                <a:solidFill>
                  <a:srgbClr val="000000"/>
                </a:solidFill>
              </a:rPr>
              <a:t>  – юнит-тесты утилит синхронизации (sync.js), форматирования времени, обработки ошибок API;</a:t>
            </a:r>
          </a:p>
          <a:p>
            <a:r>
              <a:rPr>
                <a:solidFill>
                  <a:srgbClr val="000000"/>
                </a:solidFill>
              </a:rPr>
              <a:t>  – компонент-тесты ключевых элементов UI (Button, MessageCard, TextField).</a:t>
            </a:r>
          </a:p>
          <a:p>
            <a:r>
              <a:rPr>
                <a:solidFill>
                  <a:srgbClr val="000000"/>
                </a:solidFill>
              </a:rPr>
              <a:t/>
            </a:r>
          </a:p>
          <a:p>
            <a:r>
              <a:rPr>
                <a:solidFill>
                  <a:srgbClr val="000000"/>
                </a:solidFill>
              </a:rPr>
              <a:t>Граничные значения: рассинхрон ≥ 2 с включает жёсткую коррекцию плеера; истёкший JWT обновляется по refresh-токену.</a:t>
            </a:r>
          </a:p>
        </p:txBody>
      </p:sp>
    </p:spTree>
    <p:extLst>
      <p:ext uri="{BB962C8B-B14F-4D97-AF65-F5344CB8AC3E}">
        <p14:creationId xmlns:p14="http://schemas.microsoft.com/office/powerpoint/2010/main" val="7094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799965B-5F6F-3E57-4CF7-80210D3F01F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мный, ночь&#10;&#10;Автоматически созданное описание">
            <a:extLst>
              <a:ext uri="{FF2B5EF4-FFF2-40B4-BE49-F238E27FC236}">
                <a16:creationId xmlns:a16="http://schemas.microsoft.com/office/drawing/2014/main" id="{6D312EA0-C082-EF6A-B6FB-7C715E76E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801186" y="2387535"/>
            <a:ext cx="7400339" cy="4470465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BF1E439F-D47C-89A6-70EC-DBFAA97311F2}"/>
              </a:ext>
            </a:extLst>
          </p:cNvPr>
          <p:cNvSpPr txBox="1"/>
          <p:nvPr/>
        </p:nvSpPr>
        <p:spPr bwMode="auto">
          <a:xfrm>
            <a:off x="504862" y="354687"/>
            <a:ext cx="8873454" cy="454383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R="5080">
              <a:defRPr/>
            </a:pPr>
            <a:r>
              <a:rPr lang="ru-RU" sz="2900" b="1" dirty="0">
                <a:solidFill>
                  <a:srgbClr val="4547BB"/>
                </a:solidFill>
                <a:latin typeface="Montserrat SemiBold"/>
                <a:cs typeface="Times New Roman"/>
              </a:rPr>
              <a:t>Интеграция и развертывание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C30CDAA-B93F-DABC-B792-6FBDD5991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80" y="4019763"/>
            <a:ext cx="12192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4F811B4-4148-5251-D79F-43F532B62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873226" y="334121"/>
            <a:ext cx="1701690" cy="381514"/>
          </a:xfrm>
          <a:prstGeom prst="rect">
            <a:avLst/>
          </a:prstGeom>
        </p:spPr>
      </p:pic>
      <p:sp>
        <p:nvSpPr>
          <p:cNvPr id="2" name="Content Placeholder 10">
            <a:extLst>
              <a:ext uri="{FF2B5EF4-FFF2-40B4-BE49-F238E27FC236}">
                <a16:creationId xmlns:a16="http://schemas.microsoft.com/office/drawing/2014/main" id="{878EB39C-494E-F203-2E76-FE7F90427D38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838200" y="1169501"/>
            <a:ext cx="10515600" cy="5007462"/>
          </a:xfrm>
        </p:spPr>
        <p:txBody>
          <a:bodyPr anchor="ctr">
            <a:normAutofit/>
          </a:bodyPr>
          <a:lstStyle/>
          <a:p>
            <a:pPr marL="0" indent="0" algn="ctr">
              <a:buNone/>
              <a:defRPr/>
            </a:pPr>
            <a:r>
              <a:rPr>
                <a:solidFill>
                  <a:srgbClr val="000000"/>
                </a:solidFill>
              </a:rPr>
              <a:t>Контейнеризация: multi-stage Dockerfile для бэкенда (Daphne ASGI) и фронтенда (nginx).</a:t>
            </a:r>
          </a:p>
          <a:p>
            <a:r>
              <a:rPr>
                <a:solidFill>
                  <a:srgbClr val="000000"/>
                </a:solidFill>
              </a:rPr>
              <a:t>Оркестрация: docker-compose с сервисами postgres, redis, backend, frontend.</a:t>
            </a:r>
          </a:p>
          <a:p>
            <a:r>
              <a:rPr>
                <a:solidFill>
                  <a:srgbClr val="000000"/>
                </a:solidFill>
              </a:rPr>
              <a:t>Reverse proxy: Caddy с автоматическим выпуском TLS-сертификатов через Let's Encrypt.</a:t>
            </a:r>
          </a:p>
          <a:p>
            <a:r>
              <a:rPr>
                <a:solidFill>
                  <a:srgbClr val="000000"/>
                </a:solidFill>
              </a:rPr>
              <a:t>Развёртывание: скрипт deploy.sh — идемпотентное обновление на боевом сервере.</a:t>
            </a:r>
          </a:p>
          <a:p>
            <a:r>
              <a:rPr>
                <a:solidFill>
                  <a:srgbClr val="000000"/>
                </a:solidFill>
              </a:rPr>
              <a:t>Конфигурация: переменные окружения (.env), отдельные профили для dev и prod.</a:t>
            </a:r>
          </a:p>
          <a:p>
            <a:r>
              <a:rPr>
                <a:solidFill>
                  <a:srgbClr val="000000"/>
                </a:solidFill>
              </a:rPr>
              <a:t>Стенд: развёрнут на собственном сервере, доступен по доменному имени с HTTPS.</a:t>
            </a:r>
          </a:p>
        </p:txBody>
      </p:sp>
    </p:spTree>
    <p:extLst>
      <p:ext uri="{BB962C8B-B14F-4D97-AF65-F5344CB8AC3E}">
        <p14:creationId xmlns:p14="http://schemas.microsoft.com/office/powerpoint/2010/main" val="24351172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мный, ночь&#10;&#10;Автоматически созданное описание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801186" y="2387535"/>
            <a:ext cx="7400339" cy="4470465"/>
          </a:xfrm>
          <a:prstGeom prst="rect">
            <a:avLst/>
          </a:prstGeom>
        </p:spPr>
      </p:pic>
      <p:sp>
        <p:nvSpPr>
          <p:cNvPr id="5" name="object 4"/>
          <p:cNvSpPr txBox="1"/>
          <p:nvPr/>
        </p:nvSpPr>
        <p:spPr bwMode="auto">
          <a:xfrm>
            <a:off x="504863" y="354688"/>
            <a:ext cx="8868055" cy="460125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R="5080">
              <a:defRPr/>
            </a:pPr>
            <a:r>
              <a:rPr lang="ru-RU" sz="2900" b="1">
                <a:solidFill>
                  <a:srgbClr val="4547BB"/>
                </a:solidFill>
                <a:latin typeface="Montserrat SemiBold"/>
                <a:cs typeface="Times New Roman"/>
              </a:rPr>
              <a:t>Заключение</a:t>
            </a:r>
            <a:endParaRPr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505022" y="4050205"/>
            <a:ext cx="12192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 lang="ru-RU"/>
          </a:p>
        </p:txBody>
      </p:sp>
      <p:sp>
        <p:nvSpPr>
          <p:cNvPr id="11" name="TextBox 10"/>
          <p:cNvSpPr txBox="1"/>
          <p:nvPr/>
        </p:nvSpPr>
        <p:spPr bwMode="auto">
          <a:xfrm>
            <a:off x="504862" y="862484"/>
            <a:ext cx="11198676" cy="3200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>
                <a:solidFill>
                  <a:srgbClr val="000000"/>
                </a:solidFill>
              </a:rPr>
              <a:t>Достижение цели:</a:t>
            </a:r>
            <a:endParaRPr dirty="0"/>
          </a:p>
          <a:p>
            <a:r>
              <a:rPr>
                <a:solidFill>
                  <a:srgbClr val="000000"/>
                </a:solidFill>
              </a:rPr>
              <a:t>Платформа потокового видео с синхронным совместным просмотром реализована,</a:t>
            </a:r>
          </a:p>
          <a:p>
            <a:r>
              <a:rPr>
                <a:solidFill>
                  <a:srgbClr val="000000"/>
                </a:solidFill>
              </a:rPr>
              <a:t>развёрнута на боевом сервере, готова к демонстрации.</a:t>
            </a:r>
          </a:p>
          <a:p>
            <a:r>
              <a:rPr>
                <a:solidFill>
                  <a:srgbClr val="000000"/>
                </a:solidFill>
              </a:rPr>
              <a:t/>
            </a:r>
          </a:p>
          <a:p>
            <a:r>
              <a:rPr>
                <a:solidFill>
                  <a:srgbClr val="000000"/>
                </a:solidFill>
              </a:rPr>
              <a:t>Выполнение задач:</a:t>
            </a:r>
          </a:p>
          <a:p>
            <a:r>
              <a:rPr>
                <a:solidFill>
                  <a:srgbClr val="000000"/>
                </a:solidFill>
              </a:rPr>
              <a:t>1. Архитектура клиент-серверной системы спроектирована и реализована.</a:t>
            </a:r>
          </a:p>
          <a:p>
            <a:r>
              <a:rPr>
                <a:solidFill>
                  <a:srgbClr val="000000"/>
                </a:solidFill>
              </a:rPr>
              <a:t>2. Потоковая отдача видео по HLS работает в современных браузерах.</a:t>
            </a:r>
          </a:p>
          <a:p>
            <a:r>
              <a:rPr>
                <a:solidFill>
                  <a:srgbClr val="000000"/>
                </a:solidFill>
              </a:rPr>
              <a:t>3. WebSocket-синхронизация плеера работает с компенсацией дрейфа.</a:t>
            </a:r>
          </a:p>
          <a:p>
            <a:r>
              <a:rPr>
                <a:solidFill>
                  <a:srgbClr val="000000"/>
                </a:solidFill>
              </a:rPr>
              <a:t>4. UI разработан, адаптивен для десктопа и мобильной версии.</a:t>
            </a:r>
          </a:p>
          <a:p>
            <a:r>
              <a:rPr>
                <a:solidFill>
                  <a:srgbClr val="000000"/>
                </a:solidFill>
              </a:rPr>
              <a:t>5. Контейнерное развёртывание автоматизировано, HTTPS — Let's Encrypt.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3F3D88F-CCB4-49DA-90C6-E62D98838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873226" y="334121"/>
            <a:ext cx="1701690" cy="38151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DC42F-F955-EEC2-9E4B-6B183A3C0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E356A2A-C9C6-B62C-E7FF-264CB2CA9D95}"/>
              </a:ext>
            </a:extLst>
          </p:cNvPr>
          <p:cNvGrpSpPr/>
          <p:nvPr/>
        </p:nvGrpSpPr>
        <p:grpSpPr>
          <a:xfrm>
            <a:off x="0" y="-120712"/>
            <a:ext cx="12192000" cy="6858000"/>
            <a:chOff x="0" y="-120712"/>
            <a:chExt cx="12192000" cy="6858000"/>
          </a:xfrm>
        </p:grpSpPr>
        <p:pic>
          <p:nvPicPr>
            <p:cNvPr id="4" name="Рисунок 3">
              <a:extLst>
                <a:ext uri="{FF2B5EF4-FFF2-40B4-BE49-F238E27FC236}">
                  <a16:creationId xmlns:a16="http://schemas.microsoft.com/office/drawing/2014/main" id="{545D3573-B28C-7D35-FB67-019B0E9635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-120712"/>
              <a:ext cx="12192000" cy="6858000"/>
            </a:xfrm>
            <a:prstGeom prst="rect">
              <a:avLst/>
            </a:prstGeom>
          </p:spPr>
        </p:pic>
        <p:pic>
          <p:nvPicPr>
            <p:cNvPr id="22" name="Рисунок 21">
              <a:extLst>
                <a:ext uri="{FF2B5EF4-FFF2-40B4-BE49-F238E27FC236}">
                  <a16:creationId xmlns:a16="http://schemas.microsoft.com/office/drawing/2014/main" id="{6FCF6434-D8FB-A573-F583-F3002CB92F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9973" y="568507"/>
              <a:ext cx="6430636" cy="635826"/>
            </a:xfrm>
            <a:prstGeom prst="rect">
              <a:avLst/>
            </a:prstGeom>
          </p:spPr>
        </p:pic>
      </p:grp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ED7F01A5-1FE6-9CF6-97A5-7FD005417DC8}"/>
              </a:ext>
            </a:extLst>
          </p:cNvPr>
          <p:cNvSpPr txBox="1">
            <a:spLocks/>
          </p:cNvSpPr>
          <p:nvPr/>
        </p:nvSpPr>
        <p:spPr bwMode="auto">
          <a:xfrm>
            <a:off x="569973" y="2090449"/>
            <a:ext cx="9365672" cy="581025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b" anchorCtr="0" forceAA="0" compatLnSpc="0">
            <a:norm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ru-RU" sz="3500" dirty="0">
                <a:solidFill>
                  <a:schemeClr val="bg1"/>
                </a:solidFill>
                <a:latin typeface="Montserrat SemiBold"/>
              </a:rPr>
              <a:t>Вопросы-ответы</a:t>
            </a:r>
          </a:p>
        </p:txBody>
      </p:sp>
      <p:sp>
        <p:nvSpPr>
          <p:cNvPr id="8" name="Прямоугольник 5">
            <a:extLst>
              <a:ext uri="{FF2B5EF4-FFF2-40B4-BE49-F238E27FC236}">
                <a16:creationId xmlns:a16="http://schemas.microsoft.com/office/drawing/2014/main" id="{AFA6F771-2715-4297-3EAF-5A5A4FC8EA5F}"/>
              </a:ext>
            </a:extLst>
          </p:cNvPr>
          <p:cNvSpPr/>
          <p:nvPr/>
        </p:nvSpPr>
        <p:spPr bwMode="auto">
          <a:xfrm>
            <a:off x="572654" y="2792185"/>
            <a:ext cx="9362991" cy="1518558"/>
          </a:xfrm>
          <a:prstGeom prst="rect">
            <a:avLst/>
          </a:prstGeom>
        </p:spPr>
        <p:txBody>
          <a:bodyPr wrap="square">
            <a:normAutofit lnSpcReduction="10000"/>
          </a:bodyPr>
          <a:lstStyle>
            <a:defPPr>
              <a:defRPr lang="en-US"/>
            </a:defPPr>
            <a:lvl1pPr marL="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78142" marR="8377" indent="-457200">
              <a:lnSpc>
                <a:spcPct val="120000"/>
              </a:lnSpc>
              <a:buAutoNum type="arabicPeriod"/>
              <a:defRPr/>
            </a:pPr>
            <a:r>
              <a:rPr sz="2000"/>
              <a:t>Андреев Андрей Валерьевич, ст. преподаватель «СибГУТИ»</a:t>
            </a:r>
          </a:p>
          <a:p>
            <a:r>
              <a:rPr sz="2000"/>
              <a:t>Лукинов Виталий Леонидович, доцент «СибГУТИ»</a:t>
            </a:r>
          </a:p>
          <a:p>
            <a:r>
              <a:rPr sz="2000"/>
              <a:t/>
            </a:r>
          </a:p>
          <a:p>
            <a:r>
              <a:rPr sz="2000"/>
              <a:t/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64D6D2-2A3D-4BEA-2827-8AE6755D0DC7}"/>
              </a:ext>
            </a:extLst>
          </p:cNvPr>
          <p:cNvSpPr txBox="1">
            <a:spLocks/>
          </p:cNvSpPr>
          <p:nvPr/>
        </p:nvSpPr>
        <p:spPr bwMode="auto">
          <a:xfrm>
            <a:off x="569973" y="4431454"/>
            <a:ext cx="9365672" cy="581025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>
                <a:solidFill>
                  <a:srgbClr val="000000"/>
                </a:solidFill>
              </a:rPr>
              <a:t>Создание функциональной веб-платформы для потокового видео</a:t>
            </a:r>
          </a:p>
        </p:txBody>
      </p:sp>
    </p:spTree>
    <p:extLst>
      <p:ext uri="{BB962C8B-B14F-4D97-AF65-F5344CB8AC3E}">
        <p14:creationId xmlns:p14="http://schemas.microsoft.com/office/powerpoint/2010/main" val="14548191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</TotalTime>
  <Words>288</Words>
  <Application>Microsoft Office PowerPoint</Application>
  <DocSecurity>0</DocSecurity>
  <PresentationFormat>Widescreen</PresentationFormat>
  <Paragraphs>66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Montserrat</vt:lpstr>
      <vt:lpstr>Montserrat SemiBold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Повышение квалификации инженеров “Подготовка преподавателей-практиков из высокотехнологичных компаний”</dc:title>
  <dc:subject/>
  <dc:creator>Сабина Рагозина</dc:creator>
  <cp:keywords/>
  <dc:description/>
  <cp:lastModifiedBy>Lenar M. Faskhutdinov</cp:lastModifiedBy>
  <cp:revision>38</cp:revision>
  <dcterms:created xsi:type="dcterms:W3CDTF">2022-09-08T07:31:07Z</dcterms:created>
  <dcterms:modified xsi:type="dcterms:W3CDTF">2025-02-18T10:01:30Z</dcterms:modified>
  <cp:category/>
  <dc:identifier/>
  <cp:contentStatus/>
  <dc:language/>
  <cp:version/>
</cp:coreProperties>
</file>