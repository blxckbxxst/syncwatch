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E3A8A"/>
                </a:solidFill>
                <a:latin typeface="JetBrains Mono"/>
              </a:rPr>
              <a:t>Sonar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1109441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F172A"/>
                </a:solidFill>
                <a:latin typeface="Inter"/>
              </a:rPr>
              <a:t>Создание функциональной веб-платформы для потокового видео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931920"/>
            <a:ext cx="914400" cy="54864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Inter"/>
              </a:rPr>
              <a:t>Андреев Андрей Валерьевич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262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Inter"/>
              </a:rPr>
              <a:t>ст. преподаватель, СибГУТИ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834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Inter"/>
              </a:rPr>
              <a:t>Лукинов Виталий Леонидович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035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Inter"/>
              </a:rPr>
              <a:t>доцент, СибГУТИ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0936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JetBrains Mono"/>
              </a:rPr>
              <a:t>Итоговая работа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JetBrains Mono"/>
              </a:rPr>
              <a:t>Sonar · веб-платформа потокового видео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4255" y="2011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JetBrains Mono"/>
              </a:rPr>
              <a:t>02 / 17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Inter"/>
              </a:rPr>
              <a:t>Цель и задачи проекта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JetBrains Mono"/>
              </a:rPr>
              <a:t>Цель проекта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Inter"/>
              </a:rPr>
              <a:t>Разработать функциональную веб-платформу для потокового видео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Inter"/>
              </a:rPr>
              <a:t>с возможностью синхронного совместного просмотра.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6324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JetBrains Mono"/>
              </a:rPr>
              <a:t>Задачи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11094415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  <a:latin typeface="Inter"/>
              </a:rPr>
              <a:t>1.  Спроектировать архитектуру системы: бэкенд, фронтенд, инфраструктура.</a:t>
            </a:r>
          </a:p>
          <a:p>
            <a:pPr algn="l"/>
            <a:r>
              <a:rPr sz="1800" b="0">
                <a:solidFill>
                  <a:srgbClr val="334155"/>
                </a:solidFill>
                <a:latin typeface="Inter"/>
              </a:rPr>
              <a:t>2.  Реализовать потоковую отдачу видео по протоколу HLS.</a:t>
            </a:r>
          </a:p>
          <a:p>
            <a:pPr algn="l"/>
            <a:r>
              <a:rPr sz="1800" b="0">
                <a:solidFill>
                  <a:srgbClr val="334155"/>
                </a:solidFill>
                <a:latin typeface="Inter"/>
              </a:rPr>
              <a:t>3.  Реализовать синхронные комнаты на WebSocket с серверной синхронизацией плеера.</a:t>
            </a:r>
          </a:p>
          <a:p>
            <a:pPr algn="l"/>
            <a:r>
              <a:rPr sz="1800" b="0">
                <a:solidFill>
                  <a:srgbClr val="334155"/>
                </a:solidFill>
                <a:latin typeface="Inter"/>
              </a:rPr>
              <a:t>4.  Разработать адаптивный пользовательский интерфейс (десктоп и мобайл).</a:t>
            </a:r>
          </a:p>
          <a:p>
            <a:pPr algn="l"/>
            <a:r>
              <a:rPr sz="1800" b="0">
                <a:solidFill>
                  <a:srgbClr val="334155"/>
                </a:solidFill>
                <a:latin typeface="Inter"/>
              </a:rPr>
              <a:t>5.  Обеспечить контейнерное развёртывание с автоматическим HTTPS.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JetBrains Mono"/>
              </a:rPr>
              <a:t>Sonar · веб-платформа потокового видео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4255" y="2011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JetBrains Mono"/>
              </a:rPr>
              <a:t>03 / 17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Inter"/>
              </a:rPr>
              <a:t>Распределение ролей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1094415" cy="5029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"/>
              </a:rPr>
              <a:t>Фамилия И.О.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691640"/>
            <a:ext cx="816833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Inter"/>
              </a:rPr>
              <a:t>Роль в группе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1109441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965450"/>
            <a:ext cx="11094415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Inter"/>
              </a:rPr>
              <a:t>Лукинов В.Л.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194560"/>
            <a:ext cx="816833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Inter"/>
              </a:rPr>
              <a:t>Моделирование архитектуры информационной системы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71800"/>
            <a:ext cx="11094415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42690"/>
            <a:ext cx="11094415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971800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Inter"/>
              </a:rPr>
              <a:t>Лукинов В.Л.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971800"/>
            <a:ext cx="816833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Inter"/>
              </a:rPr>
              <a:t>Разработка бизнес-логики информационной системы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49040"/>
            <a:ext cx="1109441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519930"/>
            <a:ext cx="11094415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749040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Inter"/>
              </a:rPr>
              <a:t>Андреев А.В.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749040"/>
            <a:ext cx="816833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Inter"/>
              </a:rPr>
              <a:t>Прототипирование и разработка пользовательского интерфейса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526280"/>
            <a:ext cx="11094415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297170"/>
            <a:ext cx="11094415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526280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Inter"/>
              </a:rPr>
              <a:t>Андреев А.В.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4526280"/>
            <a:ext cx="816833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Inter"/>
              </a:rPr>
              <a:t>Тестирование и интеграционные работы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JetBrains Mono"/>
              </a:rPr>
              <a:t>Sonar · веб-платформа потокового видео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4255" y="2011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JetBrains Mono"/>
              </a:rPr>
              <a:t>04 / 17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Inter"/>
              </a:rPr>
              <a:t>Средства реализации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JetBrains Mono"/>
              </a:rPr>
              <a:t>Бэкенд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531860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Inter"/>
              </a:rPr>
              <a:t>Python 3.10+, Django 5.1, Django REST Framework 3.15, Django Channels 4.1 (ASGI + WebSocket)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JetBrains Mono"/>
              </a:rPr>
              <a:t>База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531860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Inter"/>
              </a:rPr>
              <a:t>PostgreSQL 16 (продакшен), SQLite (разработка)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77640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JetBrains Mono"/>
              </a:rPr>
              <a:t>Кэш и pub/sub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51960"/>
            <a:ext cx="531860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Inter"/>
              </a:rPr>
              <a:t>Redis 7 (channel layer для WebSocket)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120640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JetBrains Mono"/>
              </a:rPr>
              <a:t>Потоковое видео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94960"/>
            <a:ext cx="531860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Inter"/>
              </a:rPr>
              <a:t>HLS, hls.js, HTML5 video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1691640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JetBrains Mono"/>
              </a:rPr>
              <a:t>Фронтенд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1965960"/>
            <a:ext cx="531860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Inter"/>
              </a:rPr>
              <a:t>React 19.2, React Router 7, Vite 8, axios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2834640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JetBrains Mono"/>
              </a:rPr>
              <a:t>Инфраструктура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447" y="3108960"/>
            <a:ext cx="531860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Inter"/>
              </a:rPr>
              <a:t>Docker, docker-compose, Caddy (reverse proxy и auto-HTTPS Let's Encrypt)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3977640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JetBrains Mono"/>
              </a:rPr>
              <a:t>Тестирование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4251960"/>
            <a:ext cx="531860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Inter"/>
              </a:rPr>
              <a:t>pytest + pytest-asyncio (бэк), Vitest + @testing-library/react (фронт)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5120640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E3A8A"/>
                </a:solidFill>
                <a:latin typeface="JetBrains Mono"/>
              </a:rPr>
              <a:t>Аутентификация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5394960"/>
            <a:ext cx="531860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Inter"/>
              </a:rPr>
              <a:t>JWT (SimpleJWT), вход по одноразовому коду на e-mail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JetBrains Mono"/>
              </a:rPr>
              <a:t>Sonar · веб-платформа потокового видео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4255" y="2011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JetBrains Mono"/>
              </a:rPr>
              <a:t>05 / 17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Inter"/>
              </a:rPr>
              <a:t>Планирование работ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61184"/>
            <a:ext cx="11643055" cy="38157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JetBrains Mono"/>
              </a:rPr>
              <a:t>Sonar · веб-платформа потокового видео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4255" y="2011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JetBrains Mono"/>
              </a:rPr>
              <a:t>06 / 17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Inter"/>
              </a:rPr>
              <a:t>Архитектура системы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Inter"/>
              </a:rPr>
              <a:t>Контейнерная диаграмма в нотации C4: клиент, шлюз, сервисы, хранилища.</a:t>
            </a:r>
          </a:p>
        </p:txBody>
      </p:sp>
      <p:pic>
        <p:nvPicPr>
          <p:cNvPr id="8" name="Picture 7" descr="c4-conta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830" y="2286000"/>
            <a:ext cx="11080034" cy="41147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JetBrains Mono"/>
              </a:rPr>
              <a:t>Sonar · веб-платформа потокового видео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4255" y="2011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JetBrains Mono"/>
              </a:rPr>
              <a:t>07 / 17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Inter"/>
              </a:rPr>
              <a:t>Диаграммы кода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34029"/>
            <a:ext cx="11643055" cy="44701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JetBrains Mono"/>
              </a:rPr>
              <a:t>Sonar · веб-платформа потокового видео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4255" y="2011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JetBrains Mono"/>
              </a:rPr>
              <a:t>08 / 17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Inter"/>
              </a:rPr>
              <a:t>Диаграмма компонентов пользовательского интерфейса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i-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653" y="1508760"/>
            <a:ext cx="9640388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JetBrains Mono"/>
              </a:rPr>
              <a:t>Sonar · веб-платформа потокового видео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4255" y="2011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JetBrains Mono"/>
              </a:rPr>
              <a:t>09 / 17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Inter"/>
              </a:rPr>
              <a:t>Главная: макет и реализация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Inter"/>
              </a:rPr>
              <a:t>Лента видео — главный экран платформы.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384048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194560"/>
            <a:ext cx="384048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6391275"/>
            <a:ext cx="384048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194560"/>
            <a:ext cx="9525" cy="420624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05275" y="2194560"/>
            <a:ext cx="9525" cy="420624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194560"/>
            <a:ext cx="3840480" cy="3657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1480" y="2304288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8" y="230428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3816" y="230428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22402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JetBrains Mono"/>
              </a:rPr>
              <a:t>figma.com/Sonar/home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845" y="2560320"/>
            <a:ext cx="3821430" cy="5029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8165" y="2560320"/>
            <a:ext cx="327279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JetBrains Mono"/>
              </a:rPr>
              <a:t>Sonar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605" y="3429000"/>
            <a:ext cx="847090" cy="56472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605" y="4066878"/>
            <a:ext cx="508254" cy="5486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9605" y="4158318"/>
            <a:ext cx="381190" cy="5486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71015" y="3429000"/>
            <a:ext cx="847090" cy="56472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71015" y="4066878"/>
            <a:ext cx="508254" cy="5486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71015" y="4158318"/>
            <a:ext cx="381190" cy="5486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92425" y="3429000"/>
            <a:ext cx="847090" cy="56472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892425" y="4066878"/>
            <a:ext cx="508254" cy="5486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892425" y="4158318"/>
            <a:ext cx="381190" cy="5486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9605" y="4606374"/>
            <a:ext cx="847090" cy="56472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9605" y="5244252"/>
            <a:ext cx="508254" cy="5486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9605" y="5335692"/>
            <a:ext cx="381190" cy="5486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771015" y="4606374"/>
            <a:ext cx="847090" cy="56472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771015" y="5244252"/>
            <a:ext cx="508254" cy="5486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771015" y="5335692"/>
            <a:ext cx="381190" cy="5486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892425" y="4606374"/>
            <a:ext cx="847090" cy="56472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892425" y="5244252"/>
            <a:ext cx="508254" cy="5486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92425" y="5335692"/>
            <a:ext cx="381190" cy="54864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34840" y="2194560"/>
            <a:ext cx="7482535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434840" y="2194560"/>
            <a:ext cx="748253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34840" y="6391275"/>
            <a:ext cx="748253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34840" y="2194560"/>
            <a:ext cx="9525" cy="420624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907850" y="2194560"/>
            <a:ext cx="9525" cy="420624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34840" y="2194560"/>
            <a:ext cx="7482535" cy="3657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572000" y="2304288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773168" y="230428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74336" y="230428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49240" y="2240280"/>
            <a:ext cx="6385255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JetBrains Mono"/>
              </a:rPr>
              <a:t>sonar.app/</a:t>
            </a:r>
          </a:p>
        </p:txBody>
      </p:sp>
      <p:pic>
        <p:nvPicPr>
          <p:cNvPr id="48" name="Picture 47" descr="ui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365" y="2563279"/>
            <a:ext cx="7463485" cy="382503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274320" y="64922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JetBrains Mono"/>
              </a:rPr>
              <a:t>Макет (Figma)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6492240"/>
            <a:ext cx="7482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JetBrains Mono"/>
              </a:rPr>
              <a:t>Реализация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JetBrains Mono"/>
              </a:rPr>
              <a:t>Sonar · веб-платформа потокового видео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4255" y="2011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JetBrains Mono"/>
              </a:rPr>
              <a:t>10 / 17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Inter"/>
              </a:rPr>
              <a:t>Совместный просмотр: макет и реализация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Inter"/>
              </a:rPr>
              <a:t>Комната с общим плеером, чатом и панелью вопросов.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384048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194560"/>
            <a:ext cx="384048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6391275"/>
            <a:ext cx="384048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194560"/>
            <a:ext cx="9525" cy="420624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05275" y="2194560"/>
            <a:ext cx="9525" cy="420624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194560"/>
            <a:ext cx="3840480" cy="3657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1480" y="2304288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8" y="230428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3816" y="230428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22402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JetBrains Mono"/>
              </a:rPr>
              <a:t>figma.com/Sonar/room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845" y="2560320"/>
            <a:ext cx="3821430" cy="5029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8165" y="2560320"/>
            <a:ext cx="327279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JetBrains Mono"/>
              </a:rPr>
              <a:t>Sonar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885" y="3429000"/>
            <a:ext cx="2067877" cy="11631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5400000">
            <a:off x="1363503" y="3736270"/>
            <a:ext cx="548640" cy="548640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885" y="4665332"/>
            <a:ext cx="2067877" cy="914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54642" y="3429000"/>
            <a:ext cx="930593" cy="222215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54642" y="3742655"/>
            <a:ext cx="930593" cy="222215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54642" y="4056310"/>
            <a:ext cx="930593" cy="222215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54642" y="4369965"/>
            <a:ext cx="930593" cy="222215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3885" y="4912220"/>
            <a:ext cx="3181350" cy="3200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34840" y="2194560"/>
            <a:ext cx="7482535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34840" y="2194560"/>
            <a:ext cx="748253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34840" y="6391275"/>
            <a:ext cx="748253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34840" y="2194560"/>
            <a:ext cx="9525" cy="420624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907850" y="2194560"/>
            <a:ext cx="9525" cy="420624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34840" y="2194560"/>
            <a:ext cx="7482535" cy="3657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72000" y="2304288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73168" y="230428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74336" y="230428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49240" y="2240280"/>
            <a:ext cx="6385255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JetBrains Mono"/>
              </a:rPr>
              <a:t>sonar.app/room/&lt;id&gt;</a:t>
            </a:r>
          </a:p>
        </p:txBody>
      </p:sp>
      <p:pic>
        <p:nvPicPr>
          <p:cNvPr id="38" name="Picture 37" descr="ui-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365" y="2563279"/>
            <a:ext cx="7463485" cy="382503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274320" y="64922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JetBrains Mono"/>
              </a:rPr>
              <a:t>Макет (Figma)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6492240"/>
            <a:ext cx="7482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JetBrains Mono"/>
              </a:rPr>
              <a:t>Реализация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JetBrains Mono"/>
              </a:rPr>
              <a:t>Sonar · веб-платформа потокового видео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4255" y="2011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JetBrains Mono"/>
              </a:rPr>
              <a:t>11 / 17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Inter"/>
              </a:rPr>
              <a:t>Профиль: макет и реализация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Inter"/>
              </a:rPr>
              <a:t>Канал пользователя со списком загруженных видео.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3840480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194560"/>
            <a:ext cx="384048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6391275"/>
            <a:ext cx="384048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194560"/>
            <a:ext cx="9525" cy="420624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05275" y="2194560"/>
            <a:ext cx="9525" cy="420624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194560"/>
            <a:ext cx="3840480" cy="3657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1480" y="2304288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8" y="230428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3816" y="230428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22402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JetBrains Mono"/>
              </a:rPr>
              <a:t>figma.com/Sonar/profile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845" y="2560320"/>
            <a:ext cx="3821430" cy="5029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8165" y="2560320"/>
            <a:ext cx="327279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JetBrains Mono"/>
              </a:rPr>
              <a:t>Sonar</a:t>
            </a:r>
          </a:p>
        </p:txBody>
      </p:sp>
      <p:sp>
        <p:nvSpPr>
          <p:cNvPr id="20" name="Oval 19"/>
          <p:cNvSpPr/>
          <p:nvPr/>
        </p:nvSpPr>
        <p:spPr>
          <a:xfrm>
            <a:off x="649605" y="3429000"/>
            <a:ext cx="822960" cy="82296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46885" y="3566160"/>
            <a:ext cx="2194560" cy="1828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46885" y="3886200"/>
            <a:ext cx="1463040" cy="118872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605" y="4526280"/>
            <a:ext cx="502920" cy="54864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605" y="4846320"/>
            <a:ext cx="847090" cy="498157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71015" y="4846320"/>
            <a:ext cx="847090" cy="498157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92425" y="4846320"/>
            <a:ext cx="847090" cy="498157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9605" y="5664517"/>
            <a:ext cx="847090" cy="498157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771015" y="5664517"/>
            <a:ext cx="847090" cy="498157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892425" y="5664517"/>
            <a:ext cx="847090" cy="498157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34840" y="2194560"/>
            <a:ext cx="7482535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34840" y="2194560"/>
            <a:ext cx="748253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34840" y="6391275"/>
            <a:ext cx="748253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34840" y="2194560"/>
            <a:ext cx="9525" cy="420624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907850" y="2194560"/>
            <a:ext cx="9525" cy="420624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34840" y="2194560"/>
            <a:ext cx="7482535" cy="3657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72000" y="2304288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773168" y="230428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974336" y="230428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49240" y="2240280"/>
            <a:ext cx="6385255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JetBrains Mono"/>
              </a:rPr>
              <a:t>sonar.app/profile</a:t>
            </a:r>
          </a:p>
        </p:txBody>
      </p:sp>
      <p:pic>
        <p:nvPicPr>
          <p:cNvPr id="40" name="Picture 39" descr="ui-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365" y="2563279"/>
            <a:ext cx="7463485" cy="382503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74320" y="64922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JetBrains Mono"/>
              </a:rPr>
              <a:t>Макет (Figma)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6492240"/>
            <a:ext cx="7482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JetBrains Mono"/>
              </a:rPr>
              <a:t>Реализация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JetBrains Mono"/>
              </a:rPr>
              <a:t>Sonar · веб-платформа потокового видео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4255" y="2011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JetBrains Mono"/>
              </a:rPr>
              <a:t>12 / 17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Inter"/>
              </a:rPr>
              <a:t>Совместный просмотр: синхронизация плеера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ync-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644" y="1508760"/>
            <a:ext cx="7902406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JetBrains Mono"/>
              </a:rPr>
              <a:t>Sonar · веб-платформа потокового видео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4255" y="2011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JetBrains Mono"/>
              </a:rPr>
              <a:t>13 / 17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Inter"/>
              </a:rPr>
              <a:t>Пример реализации синхронизации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Inter"/>
              </a:rPr>
              <a:t>Фрагмент WebSocket-консьюмера: обработка действий ведущего и рассылка состояния подписчикам.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11094415" cy="41148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11094415" cy="292608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10545775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JetBrains Mono"/>
              </a:rPr>
              <a:t>rooms/consumers.py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97480"/>
            <a:ext cx="10180015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JetBrains Mono"/>
              </a:rPr>
              <a:t>async def receive_json(self, content, **kwargs):</a:t>
            </a:r>
          </a:p>
          <a:p>
            <a:pPr algn="l"/>
            <a:r>
              <a:rPr sz="1200" b="0">
                <a:solidFill>
                  <a:srgbClr val="E5E7EB"/>
                </a:solidFill>
                <a:latin typeface="JetBrains Mono"/>
              </a:rPr>
              <a:t>    """Обработка play / pause / seek от ведущего."""</a:t>
            </a:r>
          </a:p>
          <a:p>
            <a:pPr algn="l"/>
            <a:r>
              <a:rPr sz="1200" b="0">
                <a:solidFill>
                  <a:srgbClr val="E5E7EB"/>
                </a:solidFill>
                <a:latin typeface="JetBrains Mono"/>
              </a:rPr>
              <a:t>    if not self.is_host:</a:t>
            </a:r>
          </a:p>
          <a:p>
            <a:pPr algn="l"/>
            <a:r>
              <a:rPr sz="1200" b="0">
                <a:solidFill>
                  <a:srgbClr val="E5E7EB"/>
                </a:solidFill>
                <a:latin typeface="JetBrains Mono"/>
              </a:rPr>
              <a:t>        return</a:t>
            </a:r>
          </a:p>
          <a:p>
            <a:pPr algn="l"/>
            <a:r>
              <a:rPr sz="1200" b="0">
                <a:solidFill>
                  <a:srgbClr val="E5E7EB"/>
                </a:solidFill>
                <a:latin typeface="JetBrains Mono"/>
              </a:rPr>
              <a:t>    action = content.get("action")</a:t>
            </a:r>
          </a:p>
          <a:p>
            <a:pPr algn="l"/>
            <a:r>
              <a:rPr sz="1200" b="0">
                <a:solidFill>
                  <a:srgbClr val="E5E7EB"/>
                </a:solidFill>
                <a:latin typeface="JetBrains Mono"/>
              </a:rPr>
              <a:t>    position = float(content.get("position", 0.0))</a:t>
            </a:r>
          </a:p>
          <a:p>
            <a:pPr algn="l"/>
            <a:r>
              <a:rPr sz="1200" b="0">
                <a:solidFill>
                  <a:srgbClr val="E5E7EB"/>
                </a:solidFill>
                <a:latin typeface="JetBrains Mono"/>
              </a:rPr>
              <a:t>    room = await self.update_room_state(</a:t>
            </a:r>
          </a:p>
          <a:p>
            <a:pPr algn="l"/>
            <a:r>
              <a:rPr sz="1200" b="0">
                <a:solidFill>
                  <a:srgbClr val="E5E7EB"/>
                </a:solidFill>
                <a:latin typeface="JetBrains Mono"/>
              </a:rPr>
              <a:t>        position=position,</a:t>
            </a:r>
          </a:p>
          <a:p>
            <a:pPr algn="l"/>
            <a:r>
              <a:rPr sz="1200" b="0">
                <a:solidFill>
                  <a:srgbClr val="E5E7EB"/>
                </a:solidFill>
                <a:latin typeface="JetBrains Mono"/>
              </a:rPr>
              <a:t>        is_playing=action in ("play", "resume"),</a:t>
            </a:r>
          </a:p>
          <a:p>
            <a:pPr algn="l"/>
            <a:r>
              <a:rPr sz="1200" b="0">
                <a:solidFill>
                  <a:srgbClr val="E5E7EB"/>
                </a:solidFill>
                <a:latin typeface="JetBrains Mono"/>
              </a:rPr>
              <a:t>        action=action,</a:t>
            </a:r>
          </a:p>
          <a:p>
            <a:pPr algn="l"/>
            <a:r>
              <a:rPr sz="1200" b="0">
                <a:solidFill>
                  <a:srgbClr val="E5E7EB"/>
                </a:solidFill>
                <a:latin typeface="JetBrains Mono"/>
              </a:rPr>
              <a:t>    )</a:t>
            </a:r>
          </a:p>
          <a:p>
            <a:pPr algn="l"/>
            <a:r>
              <a:rPr sz="1200" b="0">
                <a:solidFill>
                  <a:srgbClr val="E5E7EB"/>
                </a:solidFill>
                <a:latin typeface="JetBrains Mono"/>
              </a:rPr>
              <a:t>    # broadcast подписчикам через Redis</a:t>
            </a:r>
          </a:p>
          <a:p>
            <a:pPr algn="l"/>
            <a:r>
              <a:rPr sz="1200" b="0">
                <a:solidFill>
                  <a:srgbClr val="E5E7EB"/>
                </a:solidFill>
                <a:latin typeface="JetBrains Mono"/>
              </a:rPr>
              <a:t>    await self.channel_layer.group_send(self.group_name, {</a:t>
            </a:r>
          </a:p>
          <a:p>
            <a:pPr algn="l"/>
            <a:r>
              <a:rPr sz="1200" b="0">
                <a:solidFill>
                  <a:srgbClr val="E5E7EB"/>
                </a:solidFill>
                <a:latin typeface="JetBrains Mono"/>
              </a:rPr>
              <a:t>        "type": "room.state",</a:t>
            </a:r>
          </a:p>
          <a:p>
            <a:pPr algn="l"/>
            <a:r>
              <a:rPr sz="1200" b="0">
                <a:solidFill>
                  <a:srgbClr val="E5E7EB"/>
                </a:solidFill>
                <a:latin typeface="JetBrains Mono"/>
              </a:rPr>
              <a:t>        "position": room.playback_position,</a:t>
            </a:r>
          </a:p>
          <a:p>
            <a:pPr algn="l"/>
            <a:r>
              <a:rPr sz="1200" b="0">
                <a:solidFill>
                  <a:srgbClr val="E5E7EB"/>
                </a:solidFill>
                <a:latin typeface="JetBrains Mono"/>
              </a:rPr>
              <a:t>        "is_playing": room.is_playing,</a:t>
            </a:r>
          </a:p>
          <a:p>
            <a:pPr algn="l"/>
            <a:r>
              <a:rPr sz="1200" b="0">
                <a:solidFill>
                  <a:srgbClr val="E5E7EB"/>
                </a:solidFill>
                <a:latin typeface="JetBrains Mono"/>
              </a:rPr>
              <a:t>        "server_time": timezone.now().timestamp(),</a:t>
            </a:r>
          </a:p>
          <a:p>
            <a:pPr algn="l"/>
            <a:r>
              <a:rPr sz="1200" b="0">
                <a:solidFill>
                  <a:srgbClr val="E5E7EB"/>
                </a:solidFill>
                <a:latin typeface="JetBrains Mono"/>
              </a:rPr>
              <a:t>    })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JetBrains Mono"/>
              </a:rPr>
              <a:t>Sonar · веб-платформа потокового видео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4255" y="2011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JetBrains Mono"/>
              </a:rPr>
              <a:t>14 / 17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Inter"/>
              </a:rPr>
              <a:t>Тестирование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  <a:latin typeface="JetBrains Mono"/>
              </a:rPr>
              <a:t>Бэкенд: pytest + pytest-asyncio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Inter"/>
              </a:rPr>
              <a:t>Юнит-тесты сервисов аутентификации, сериализаторов, парсеров каталога.</a:t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Inter"/>
              </a:rPr>
              <a:t>Интеграционные тесты ASGI WebSocket-консьюмеров комнат.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  <a:latin typeface="JetBrains Mono"/>
              </a:rPr>
              <a:t>Фронтенд: Vitest + Testing Library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2900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Inter"/>
              </a:rPr>
              <a:t>Юнит-тесты утилит синхронизации, форматирования времени, обработки ошибок API.</a:t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Inter"/>
              </a:rPr>
              <a:t>Компонент-тесты ключевых элементов интерфейса (Button, MessageCard, TextField).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262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  <a:latin typeface="JetBrains Mono"/>
              </a:rPr>
              <a:t>Граничные случаи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Inter"/>
              </a:rPr>
              <a:t>Рассинхрон ≥ 2 с включает жёсткую коррекцию плеера.</a:t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Inter"/>
              </a:rPr>
              <a:t>Истёкший JWT обновляется по refresh-токену без выхода пользователя.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JetBrains Mono"/>
              </a:rPr>
              <a:t>Sonar · веб-платформа потокового видео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4255" y="2011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JetBrains Mono"/>
              </a:rPr>
              <a:t>15 / 17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Inter"/>
              </a:rPr>
              <a:t>Интеграция и развёртывание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  <a:latin typeface="JetBrains Mono"/>
              </a:rPr>
              <a:t>Контейнеризация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691640"/>
            <a:ext cx="798545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Inter"/>
              </a:rPr>
              <a:t>Multi-stage Dockerfile для бэкенда (Daphne ASGI) и фронтенда (nginx).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  <a:latin typeface="JetBrains Mono"/>
              </a:rPr>
              <a:t>Оркестрация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331720"/>
            <a:ext cx="798545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Inter"/>
              </a:rPr>
              <a:t>docker-compose с сервисами postgres, redis, backend, frontend.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7180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  <a:latin typeface="JetBrains Mono"/>
              </a:rPr>
              <a:t>Reverse proxy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971800"/>
            <a:ext cx="798545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Inter"/>
              </a:rPr>
              <a:t>Caddy с автоматическим выпуском TLS-сертификатов через Let's Encrypt.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1188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  <a:latin typeface="JetBrains Mono"/>
              </a:rPr>
              <a:t>Развёртывание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611880"/>
            <a:ext cx="798545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Inter"/>
              </a:rPr>
              <a:t>Идемпотентный скрипт deploy.sh: обновление на боевом сервере одной командой.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5196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  <a:latin typeface="JetBrains Mono"/>
              </a:rPr>
              <a:t>Конфигурация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251960"/>
            <a:ext cx="798545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Inter"/>
              </a:rPr>
              <a:t>Переменные окружения (.env), отдельные профили для dev и prod.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9204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  <a:latin typeface="JetBrains Mono"/>
              </a:rPr>
              <a:t>Стенд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892040"/>
            <a:ext cx="798545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Inter"/>
              </a:rPr>
              <a:t>Развёрнут на собственном сервере, доступен по доменному имени с HTTPS.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JetBrains Mono"/>
              </a:rPr>
              <a:t>Sonar · веб-платформа потокового видео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14255" y="2011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JetBrains Mono"/>
              </a:rPr>
              <a:t>16 / 17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1094415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Inter"/>
              </a:rPr>
              <a:t>Заключение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" cy="457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  <a:latin typeface="JetBrains Mono"/>
              </a:rPr>
              <a:t>Достижение цели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Inter"/>
              </a:rPr>
              <a:t>Платформа потокового видео с синхронным совместным просмотром реализована,</a:t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Inter"/>
              </a:rPr>
              <a:t>развёрнута на боевом сервере, готова к демонстрации.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3A8A"/>
                </a:solidFill>
                <a:latin typeface="JetBrains Mono"/>
              </a:rPr>
              <a:t>Выполнение задач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11094415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Inter"/>
              </a:rPr>
              <a:t>1.  Архитектура клиент-серверной системы спроектирована и реализована.</a:t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Inter"/>
              </a:rPr>
              <a:t>2.  Потоковая отдача видео по HLS работает в современных браузерах.</a:t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Inter"/>
              </a:rPr>
              <a:t>3.  WebSocket-синхронизация плеера работает с компенсацией дрейфа.</a:t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Inter"/>
              </a:rPr>
              <a:t>4.  UI разработан, адаптивен для десктопа и мобильной версии.</a:t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Inter"/>
              </a:rPr>
              <a:t>5.  Контейнерное развёртывание автоматизировано, HTTPS через Let's Encrypt.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E3A8A"/>
                </a:solidFill>
                <a:latin typeface="JetBrains Mono"/>
              </a:rPr>
              <a:t>Sonar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0F172A"/>
                </a:solidFill>
                <a:latin typeface="Inter"/>
              </a:rPr>
              <a:t>Вопросы и ответы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657600"/>
            <a:ext cx="914400" cy="54864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Inter"/>
              </a:rPr>
              <a:t>Андреев Андрей Валерьевич · ст. преподаватель, СибГУТИ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Inter"/>
              </a:rPr>
              <a:t>Лукинов Виталий Леонидович · доцент, СибГУТИ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0936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JetBrains Mono"/>
              </a:rPr>
              <a:t>Создание функциональной веб-платформы для потокового видео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